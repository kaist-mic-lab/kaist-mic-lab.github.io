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32399288" cy="43200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7" userDrawn="1">
          <p15:clr>
            <a:srgbClr val="A4A3A4"/>
          </p15:clr>
        </p15:guide>
        <p15:guide id="2" pos="1020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874F"/>
    <a:srgbClr val="7CA2D6"/>
    <a:srgbClr val="00FDFF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2844" autoAdjust="0"/>
    <p:restoredTop sz="97137"/>
  </p:normalViewPr>
  <p:slideViewPr>
    <p:cSldViewPr snapToGrid="0" showGuides="1">
      <p:cViewPr>
        <p:scale>
          <a:sx n="40" d="100"/>
          <a:sy n="40" d="100"/>
        </p:scale>
        <p:origin x="3688" y="-3760"/>
      </p:cViewPr>
      <p:guideLst>
        <p:guide orient="horz" pos="13607"/>
        <p:guide pos="1020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432B9B-C53A-7643-B062-E10054290D76}" type="datetimeFigureOut">
              <a:rPr lang="en-KR" smtClean="0"/>
              <a:t>10/10/25</a:t>
            </a:fld>
            <a:endParaRPr lang="en-K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K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F80138-B914-A74B-A689-006A5287535F}" type="slidenum">
              <a:rPr lang="en-KR" smtClean="0"/>
              <a:t>‹#›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17453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K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F80138-B914-A74B-A689-006A5287535F}" type="slidenum">
              <a:rPr lang="en-KR" smtClean="0"/>
              <a:t>1</a:t>
            </a:fld>
            <a:endParaRPr lang="en-KR"/>
          </a:p>
        </p:txBody>
      </p:sp>
    </p:spTree>
    <p:extLst>
      <p:ext uri="{BB962C8B-B14F-4D97-AF65-F5344CB8AC3E}">
        <p14:creationId xmlns:p14="http://schemas.microsoft.com/office/powerpoint/2010/main" val="3834822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29947" y="7070108"/>
            <a:ext cx="27539395" cy="15040222"/>
          </a:xfrm>
          <a:prstGeom prst="rect">
            <a:avLst/>
          </a:prstGeom>
        </p:spPr>
        <p:txBody>
          <a:bodyPr anchor="b"/>
          <a:lstStyle>
            <a:lvl1pPr algn="ctr">
              <a:defRPr sz="2125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49911" y="22690338"/>
            <a:ext cx="24299466" cy="1043015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504"/>
            </a:lvl1pPr>
            <a:lvl2pPr marL="1619951" indent="0" algn="ctr">
              <a:buNone/>
              <a:defRPr sz="7086"/>
            </a:lvl2pPr>
            <a:lvl3pPr marL="3239902" indent="0" algn="ctr">
              <a:buNone/>
              <a:defRPr sz="6378"/>
            </a:lvl3pPr>
            <a:lvl4pPr marL="4859853" indent="0" algn="ctr">
              <a:buNone/>
              <a:defRPr sz="5669"/>
            </a:lvl4pPr>
            <a:lvl5pPr marL="6479804" indent="0" algn="ctr">
              <a:buNone/>
              <a:defRPr sz="5669"/>
            </a:lvl5pPr>
            <a:lvl6pPr marL="8099755" indent="0" algn="ctr">
              <a:buNone/>
              <a:defRPr sz="5669"/>
            </a:lvl6pPr>
            <a:lvl7pPr marL="9719706" indent="0" algn="ctr">
              <a:buNone/>
              <a:defRPr sz="5669"/>
            </a:lvl7pPr>
            <a:lvl8pPr marL="11339657" indent="0" algn="ctr">
              <a:buNone/>
              <a:defRPr sz="5669"/>
            </a:lvl8pPr>
            <a:lvl9pPr marL="12959608" indent="0" algn="ctr">
              <a:buNone/>
              <a:defRPr sz="5669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654F7B3C-3BC1-43FE-A326-9E42F79A2B8E}" type="datetimeFigureOut">
              <a:rPr lang="es-ES" smtClean="0"/>
              <a:t>10/10/25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3B4EA911-B90E-452E-8EB3-6387F8F787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28837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606" userDrawn="1">
          <p15:clr>
            <a:srgbClr val="FBAE40"/>
          </p15:clr>
        </p15:guide>
        <p15:guide id="2" pos="1020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7451" y="2300044"/>
            <a:ext cx="27944386" cy="8350126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7451" y="11500170"/>
            <a:ext cx="27944386" cy="274104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654F7B3C-3BC1-43FE-A326-9E42F79A2B8E}" type="datetimeFigureOut">
              <a:rPr lang="es-ES" smtClean="0"/>
              <a:t>10/10/25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3B4EA911-B90E-452E-8EB3-6387F8F787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99140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10578" y="10770172"/>
            <a:ext cx="27944386" cy="17970262"/>
          </a:xfrm>
          <a:prstGeom prst="rect">
            <a:avLst/>
          </a:prstGeom>
        </p:spPr>
        <p:txBody>
          <a:bodyPr anchor="b"/>
          <a:lstStyle>
            <a:lvl1pPr>
              <a:defRPr sz="21259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10578" y="28910440"/>
            <a:ext cx="27944386" cy="945013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504">
                <a:solidFill>
                  <a:schemeClr val="tx1">
                    <a:tint val="82000"/>
                  </a:schemeClr>
                </a:solidFill>
              </a:defRPr>
            </a:lvl1pPr>
            <a:lvl2pPr marL="1619951" indent="0">
              <a:buNone/>
              <a:defRPr sz="7086">
                <a:solidFill>
                  <a:schemeClr val="tx1">
                    <a:tint val="82000"/>
                  </a:schemeClr>
                </a:solidFill>
              </a:defRPr>
            </a:lvl2pPr>
            <a:lvl3pPr marL="3239902" indent="0">
              <a:buNone/>
              <a:defRPr sz="6378">
                <a:solidFill>
                  <a:schemeClr val="tx1">
                    <a:tint val="82000"/>
                  </a:schemeClr>
                </a:solidFill>
              </a:defRPr>
            </a:lvl3pPr>
            <a:lvl4pPr marL="4859853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4pPr>
            <a:lvl5pPr marL="6479804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5pPr>
            <a:lvl6pPr marL="8099755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6pPr>
            <a:lvl7pPr marL="9719706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7pPr>
            <a:lvl8pPr marL="11339657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8pPr>
            <a:lvl9pPr marL="12959608" indent="0">
              <a:buNone/>
              <a:defRPr sz="566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654F7B3C-3BC1-43FE-A326-9E42F79A2B8E}" type="datetimeFigureOut">
              <a:rPr lang="es-ES" smtClean="0"/>
              <a:t>10/10/25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3B4EA911-B90E-452E-8EB3-6387F8F787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54022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7451" y="2300044"/>
            <a:ext cx="27944386" cy="8350126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227451" y="11500170"/>
            <a:ext cx="13769697" cy="274104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402140" y="11500170"/>
            <a:ext cx="13769697" cy="2741040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654F7B3C-3BC1-43FE-A326-9E42F79A2B8E}" type="datetimeFigureOut">
              <a:rPr lang="es-ES" smtClean="0"/>
              <a:t>10/10/25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3B4EA911-B90E-452E-8EB3-6387F8F787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04313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300044"/>
            <a:ext cx="27944386" cy="8350126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675" y="10590160"/>
            <a:ext cx="13706415" cy="519007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231675" y="15780233"/>
            <a:ext cx="13706415" cy="2321034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6402142" y="10590160"/>
            <a:ext cx="13773917" cy="5190073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8504" b="1"/>
            </a:lvl1pPr>
            <a:lvl2pPr marL="1619951" indent="0">
              <a:buNone/>
              <a:defRPr sz="7086" b="1"/>
            </a:lvl2pPr>
            <a:lvl3pPr marL="3239902" indent="0">
              <a:buNone/>
              <a:defRPr sz="6378" b="1"/>
            </a:lvl3pPr>
            <a:lvl4pPr marL="4859853" indent="0">
              <a:buNone/>
              <a:defRPr sz="5669" b="1"/>
            </a:lvl4pPr>
            <a:lvl5pPr marL="6479804" indent="0">
              <a:buNone/>
              <a:defRPr sz="5669" b="1"/>
            </a:lvl5pPr>
            <a:lvl6pPr marL="8099755" indent="0">
              <a:buNone/>
              <a:defRPr sz="5669" b="1"/>
            </a:lvl6pPr>
            <a:lvl7pPr marL="9719706" indent="0">
              <a:buNone/>
              <a:defRPr sz="5669" b="1"/>
            </a:lvl7pPr>
            <a:lvl8pPr marL="11339657" indent="0">
              <a:buNone/>
              <a:defRPr sz="5669" b="1"/>
            </a:lvl8pPr>
            <a:lvl9pPr marL="12959608" indent="0">
              <a:buNone/>
              <a:defRPr sz="5669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6402142" y="15780233"/>
            <a:ext cx="13773917" cy="23210346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654F7B3C-3BC1-43FE-A326-9E42F79A2B8E}" type="datetimeFigureOut">
              <a:rPr lang="es-ES" smtClean="0"/>
              <a:t>10/10/25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3B4EA911-B90E-452E-8EB3-6387F8F787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922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7451" y="2300044"/>
            <a:ext cx="27944386" cy="8350126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654F7B3C-3BC1-43FE-A326-9E42F79A2B8E}" type="datetimeFigureOut">
              <a:rPr lang="es-ES" smtClean="0"/>
              <a:t>10/10/25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3B4EA911-B90E-452E-8EB3-6387F8F787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29544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654F7B3C-3BC1-43FE-A326-9E42F79A2B8E}" type="datetimeFigureOut">
              <a:rPr lang="es-ES" smtClean="0"/>
              <a:t>10/10/25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3B4EA911-B90E-452E-8EB3-6387F8F787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2778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  <a:prstGeom prst="rect">
            <a:avLst/>
          </a:prstGeom>
        </p:spPr>
        <p:txBody>
          <a:bodyPr anchor="b"/>
          <a:lstStyle>
            <a:lvl1pPr>
              <a:defRPr sz="11338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73917" y="6220102"/>
            <a:ext cx="16402140" cy="30700453"/>
          </a:xfrm>
          <a:prstGeom prst="rect">
            <a:avLst/>
          </a:prstGeom>
        </p:spPr>
        <p:txBody>
          <a:bodyPr/>
          <a:lstStyle>
            <a:lvl1pPr>
              <a:defRPr sz="11338"/>
            </a:lvl1pPr>
            <a:lvl2pPr>
              <a:defRPr sz="9921"/>
            </a:lvl2pPr>
            <a:lvl3pPr>
              <a:defRPr sz="8504"/>
            </a:lvl3pPr>
            <a:lvl4pPr>
              <a:defRPr sz="7086"/>
            </a:lvl4pPr>
            <a:lvl5pPr>
              <a:defRPr sz="7086"/>
            </a:lvl5pPr>
            <a:lvl6pPr>
              <a:defRPr sz="7086"/>
            </a:lvl6pPr>
            <a:lvl7pPr>
              <a:defRPr sz="7086"/>
            </a:lvl7pPr>
            <a:lvl8pPr>
              <a:defRPr sz="7086"/>
            </a:lvl8pPr>
            <a:lvl9pPr>
              <a:defRPr sz="7086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654F7B3C-3BC1-43FE-A326-9E42F79A2B8E}" type="datetimeFigureOut">
              <a:rPr lang="es-ES" smtClean="0"/>
              <a:t>10/10/25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3B4EA911-B90E-452E-8EB3-6387F8F787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4254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1671" y="2880042"/>
            <a:ext cx="10449614" cy="10080149"/>
          </a:xfrm>
          <a:prstGeom prst="rect">
            <a:avLst/>
          </a:prstGeom>
        </p:spPr>
        <p:txBody>
          <a:bodyPr anchor="b"/>
          <a:lstStyle>
            <a:lvl1pPr>
              <a:defRPr sz="11338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73917" y="6220102"/>
            <a:ext cx="16402140" cy="3070045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1338"/>
            </a:lvl1pPr>
            <a:lvl2pPr marL="1619951" indent="0">
              <a:buNone/>
              <a:defRPr sz="9921"/>
            </a:lvl2pPr>
            <a:lvl3pPr marL="3239902" indent="0">
              <a:buNone/>
              <a:defRPr sz="8504"/>
            </a:lvl3pPr>
            <a:lvl4pPr marL="4859853" indent="0">
              <a:buNone/>
              <a:defRPr sz="7086"/>
            </a:lvl4pPr>
            <a:lvl5pPr marL="6479804" indent="0">
              <a:buNone/>
              <a:defRPr sz="7086"/>
            </a:lvl5pPr>
            <a:lvl6pPr marL="8099755" indent="0">
              <a:buNone/>
              <a:defRPr sz="7086"/>
            </a:lvl6pPr>
            <a:lvl7pPr marL="9719706" indent="0">
              <a:buNone/>
              <a:defRPr sz="7086"/>
            </a:lvl7pPr>
            <a:lvl8pPr marL="11339657" indent="0">
              <a:buNone/>
              <a:defRPr sz="7086"/>
            </a:lvl8pPr>
            <a:lvl9pPr marL="12959608" indent="0">
              <a:buNone/>
              <a:defRPr sz="7086"/>
            </a:lvl9pPr>
          </a:lstStyle>
          <a:p>
            <a:r>
              <a:rPr lang="es-ES"/>
              <a:t>Haga clic en el icono para agregar una imagen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1671" y="12960191"/>
            <a:ext cx="10449614" cy="2401035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669"/>
            </a:lvl1pPr>
            <a:lvl2pPr marL="1619951" indent="0">
              <a:buNone/>
              <a:defRPr sz="4960"/>
            </a:lvl2pPr>
            <a:lvl3pPr marL="3239902" indent="0">
              <a:buNone/>
              <a:defRPr sz="4252"/>
            </a:lvl3pPr>
            <a:lvl4pPr marL="4859853" indent="0">
              <a:buNone/>
              <a:defRPr sz="3543"/>
            </a:lvl4pPr>
            <a:lvl5pPr marL="6479804" indent="0">
              <a:buNone/>
              <a:defRPr sz="3543"/>
            </a:lvl5pPr>
            <a:lvl6pPr marL="8099755" indent="0">
              <a:buNone/>
              <a:defRPr sz="3543"/>
            </a:lvl6pPr>
            <a:lvl7pPr marL="9719706" indent="0">
              <a:buNone/>
              <a:defRPr sz="3543"/>
            </a:lvl7pPr>
            <a:lvl8pPr marL="11339657" indent="0">
              <a:buNone/>
              <a:defRPr sz="3543"/>
            </a:lvl8pPr>
            <a:lvl9pPr marL="12959608" indent="0">
              <a:buNone/>
              <a:defRPr sz="354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654F7B3C-3BC1-43FE-A326-9E42F79A2B8E}" type="datetimeFigureOut">
              <a:rPr lang="es-ES" smtClean="0"/>
              <a:t>10/10/25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3B4EA911-B90E-452E-8EB3-6387F8F787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23083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7451" y="2300044"/>
            <a:ext cx="27944386" cy="8350126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451" y="11500170"/>
            <a:ext cx="27944386" cy="2741040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654F7B3C-3BC1-43FE-A326-9E42F79A2B8E}" type="datetimeFigureOut">
              <a:rPr lang="es-ES" smtClean="0"/>
              <a:t>10/10/25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3B4EA911-B90E-452E-8EB3-6387F8F787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155785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3185742" y="2300034"/>
            <a:ext cx="6986096" cy="36610544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27453" y="2300034"/>
            <a:ext cx="20553298" cy="366105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227451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654F7B3C-3BC1-43FE-A326-9E42F79A2B8E}" type="datetimeFigureOut">
              <a:rPr lang="es-ES" smtClean="0"/>
              <a:t>10/10/25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732264" y="40040601"/>
            <a:ext cx="10934760" cy="2300034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2881997" y="40040601"/>
            <a:ext cx="7289840" cy="2300034"/>
          </a:xfrm>
          <a:prstGeom prst="rect">
            <a:avLst/>
          </a:prstGeom>
        </p:spPr>
        <p:txBody>
          <a:bodyPr/>
          <a:lstStyle/>
          <a:p>
            <a:fld id="{3B4EA911-B90E-452E-8EB3-6387F8F787E0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8665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5380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239902" rtl="0" eaLnBrk="1" latinLnBrk="0" hangingPunct="1">
        <a:lnSpc>
          <a:spcPct val="90000"/>
        </a:lnSpc>
        <a:spcBef>
          <a:spcPct val="0"/>
        </a:spcBef>
        <a:buNone/>
        <a:defRPr sz="155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09976" indent="-809976" algn="l" defTabSz="3239902" rtl="0" eaLnBrk="1" latinLnBrk="0" hangingPunct="1">
        <a:lnSpc>
          <a:spcPct val="90000"/>
        </a:lnSpc>
        <a:spcBef>
          <a:spcPts val="3543"/>
        </a:spcBef>
        <a:buFont typeface="Arial" panose="020B0604020202020204" pitchFamily="34" charset="0"/>
        <a:buChar char="•"/>
        <a:defRPr sz="9921" kern="1200">
          <a:solidFill>
            <a:schemeClr val="tx1"/>
          </a:solidFill>
          <a:latin typeface="+mn-lt"/>
          <a:ea typeface="+mn-ea"/>
          <a:cs typeface="+mn-cs"/>
        </a:defRPr>
      </a:lvl1pPr>
      <a:lvl2pPr marL="2429927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8504" kern="1200">
          <a:solidFill>
            <a:schemeClr val="tx1"/>
          </a:solidFill>
          <a:latin typeface="+mn-lt"/>
          <a:ea typeface="+mn-ea"/>
          <a:cs typeface="+mn-cs"/>
        </a:defRPr>
      </a:lvl2pPr>
      <a:lvl3pPr marL="4049878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7086" kern="1200">
          <a:solidFill>
            <a:schemeClr val="tx1"/>
          </a:solidFill>
          <a:latin typeface="+mn-lt"/>
          <a:ea typeface="+mn-ea"/>
          <a:cs typeface="+mn-cs"/>
        </a:defRPr>
      </a:lvl3pPr>
      <a:lvl4pPr marL="5669829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7289780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909731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10529682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2149633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3769584" indent="-809976" algn="l" defTabSz="3239902" rtl="0" eaLnBrk="1" latinLnBrk="0" hangingPunct="1">
        <a:lnSpc>
          <a:spcPct val="90000"/>
        </a:lnSpc>
        <a:spcBef>
          <a:spcPts val="1772"/>
        </a:spcBef>
        <a:buFont typeface="Arial" panose="020B0604020202020204" pitchFamily="34" charset="0"/>
        <a:buChar char="•"/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1pPr>
      <a:lvl2pPr marL="1619951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2pPr>
      <a:lvl3pPr marL="3239902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3pPr>
      <a:lvl4pPr marL="4859853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4pPr>
      <a:lvl5pPr marL="6479804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5pPr>
      <a:lvl6pPr marL="8099755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6pPr>
      <a:lvl7pPr marL="9719706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7pPr>
      <a:lvl8pPr marL="11339657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8pPr>
      <a:lvl9pPr marL="12959608" algn="l" defTabSz="3239902" rtl="0" eaLnBrk="1" latinLnBrk="0" hangingPunct="1">
        <a:defRPr sz="637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06" userDrawn="1">
          <p15:clr>
            <a:srgbClr val="F26B43"/>
          </p15:clr>
        </p15:guide>
        <p15:guide id="2" pos="1020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.xml"/><Relationship Id="rId18" Type="http://schemas.openxmlformats.org/officeDocument/2006/relationships/image" Target="../media/image5.png"/><Relationship Id="rId26" Type="http://schemas.openxmlformats.org/officeDocument/2006/relationships/image" Target="../media/image13.png"/><Relationship Id="rId21" Type="http://schemas.openxmlformats.org/officeDocument/2006/relationships/image" Target="../media/image8.png"/><Relationship Id="rId34" Type="http://schemas.openxmlformats.org/officeDocument/2006/relationships/image" Target="../media/image21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image" Target="../media/image4.png"/><Relationship Id="rId25" Type="http://schemas.openxmlformats.org/officeDocument/2006/relationships/image" Target="../media/image12.png"/><Relationship Id="rId33" Type="http://schemas.openxmlformats.org/officeDocument/2006/relationships/image" Target="../media/image20.png"/><Relationship Id="rId2" Type="http://schemas.openxmlformats.org/officeDocument/2006/relationships/tags" Target="../tags/tag2.xml"/><Relationship Id="rId16" Type="http://schemas.openxmlformats.org/officeDocument/2006/relationships/image" Target="../media/image3.emf"/><Relationship Id="rId20" Type="http://schemas.openxmlformats.org/officeDocument/2006/relationships/image" Target="../media/image7.png"/><Relationship Id="rId29" Type="http://schemas.openxmlformats.org/officeDocument/2006/relationships/image" Target="../media/image16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image" Target="../media/image11.png"/><Relationship Id="rId32" Type="http://schemas.openxmlformats.org/officeDocument/2006/relationships/image" Target="../media/image19.png"/><Relationship Id="rId37" Type="http://schemas.openxmlformats.org/officeDocument/2006/relationships/image" Target="../media/image24.png"/><Relationship Id="rId5" Type="http://schemas.openxmlformats.org/officeDocument/2006/relationships/tags" Target="../tags/tag5.xml"/><Relationship Id="rId15" Type="http://schemas.openxmlformats.org/officeDocument/2006/relationships/image" Target="../media/image2.png"/><Relationship Id="rId23" Type="http://schemas.openxmlformats.org/officeDocument/2006/relationships/image" Target="../media/image10.png"/><Relationship Id="rId28" Type="http://schemas.openxmlformats.org/officeDocument/2006/relationships/image" Target="../media/image15.png"/><Relationship Id="rId36" Type="http://schemas.openxmlformats.org/officeDocument/2006/relationships/image" Target="../media/image23.png"/><Relationship Id="rId10" Type="http://schemas.openxmlformats.org/officeDocument/2006/relationships/tags" Target="../tags/tag10.xml"/><Relationship Id="rId19" Type="http://schemas.openxmlformats.org/officeDocument/2006/relationships/image" Target="../media/image6.png"/><Relationship Id="rId31" Type="http://schemas.openxmlformats.org/officeDocument/2006/relationships/image" Target="../media/image18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notesSlide" Target="../notesSlides/notesSlide1.xml"/><Relationship Id="rId22" Type="http://schemas.openxmlformats.org/officeDocument/2006/relationships/image" Target="../media/image9.png"/><Relationship Id="rId27" Type="http://schemas.openxmlformats.org/officeDocument/2006/relationships/image" Target="../media/image14.png"/><Relationship Id="rId30" Type="http://schemas.openxmlformats.org/officeDocument/2006/relationships/image" Target="../media/image17.emf"/><Relationship Id="rId35" Type="http://schemas.openxmlformats.org/officeDocument/2006/relationships/image" Target="../media/image22.png"/><Relationship Id="rId8" Type="http://schemas.openxmlformats.org/officeDocument/2006/relationships/tags" Target="../tags/tag8.xml"/><Relationship Id="rId3" Type="http://schemas.openxmlformats.org/officeDocument/2006/relationships/tags" Target="../tags/tag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 descr="A graph with numbers and symbols&#10;&#10;AI-generated content may be incorrect.">
            <a:extLst>
              <a:ext uri="{FF2B5EF4-FFF2-40B4-BE49-F238E27FC236}">
                <a16:creationId xmlns:a16="http://schemas.microsoft.com/office/drawing/2014/main" id="{EADCF34E-76A8-AEAD-482A-36DA97799F7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0868" y="28658408"/>
            <a:ext cx="12672000" cy="3960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26E58ED-F61B-CFC9-8F1D-4B875F6C7C0C}"/>
              </a:ext>
            </a:extLst>
          </p:cNvPr>
          <p:cNvSpPr/>
          <p:nvPr/>
        </p:nvSpPr>
        <p:spPr>
          <a:xfrm>
            <a:off x="670084" y="6395250"/>
            <a:ext cx="21843539" cy="6325497"/>
          </a:xfrm>
          <a:prstGeom prst="rect">
            <a:avLst/>
          </a:prstGeom>
          <a:noFill/>
          <a:ln w="889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0864AC-2DCF-A346-B2F2-2934199955B9}"/>
              </a:ext>
            </a:extLst>
          </p:cNvPr>
          <p:cNvSpPr/>
          <p:nvPr/>
        </p:nvSpPr>
        <p:spPr>
          <a:xfrm>
            <a:off x="670084" y="13839468"/>
            <a:ext cx="14874716" cy="28190276"/>
          </a:xfrm>
          <a:prstGeom prst="rect">
            <a:avLst/>
          </a:prstGeom>
          <a:noFill/>
          <a:ln w="889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6FB5397-BBDD-B90B-3DF8-7E52BF081B11}"/>
              </a:ext>
            </a:extLst>
          </p:cNvPr>
          <p:cNvSpPr/>
          <p:nvPr/>
        </p:nvSpPr>
        <p:spPr>
          <a:xfrm>
            <a:off x="16291561" y="38169945"/>
            <a:ext cx="15437643" cy="4684224"/>
          </a:xfrm>
          <a:prstGeom prst="rect">
            <a:avLst/>
          </a:prstGeom>
          <a:noFill/>
          <a:ln w="889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C4ED60-9C2A-654C-F133-0F6B61B737ED}"/>
              </a:ext>
            </a:extLst>
          </p:cNvPr>
          <p:cNvSpPr/>
          <p:nvPr/>
        </p:nvSpPr>
        <p:spPr>
          <a:xfrm>
            <a:off x="670084" y="6395249"/>
            <a:ext cx="21843539" cy="1008000"/>
          </a:xfrm>
          <a:prstGeom prst="rect">
            <a:avLst/>
          </a:prstGeom>
          <a:solidFill>
            <a:srgbClr val="7CA2D6"/>
          </a:solidFill>
          <a:ln w="889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07C262B-9526-8F3B-7285-8C6A39D0DEA1}"/>
              </a:ext>
            </a:extLst>
          </p:cNvPr>
          <p:cNvSpPr/>
          <p:nvPr/>
        </p:nvSpPr>
        <p:spPr>
          <a:xfrm>
            <a:off x="670084" y="12970790"/>
            <a:ext cx="14874716" cy="1008000"/>
          </a:xfrm>
          <a:prstGeom prst="rect">
            <a:avLst/>
          </a:prstGeom>
          <a:solidFill>
            <a:srgbClr val="7CA2D6"/>
          </a:solidFill>
          <a:ln w="889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R"/>
              <a:t>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0024B3C-FDCB-A35E-5842-855E5CAAF9E1}"/>
              </a:ext>
            </a:extLst>
          </p:cNvPr>
          <p:cNvSpPr/>
          <p:nvPr/>
        </p:nvSpPr>
        <p:spPr>
          <a:xfrm>
            <a:off x="16287495" y="38140878"/>
            <a:ext cx="15437643" cy="1008000"/>
          </a:xfrm>
          <a:prstGeom prst="rect">
            <a:avLst/>
          </a:prstGeom>
          <a:solidFill>
            <a:srgbClr val="7CA2D6"/>
          </a:solidFill>
          <a:ln w="889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9" name="CuadroTexto 5 1 1">
            <a:extLst>
              <a:ext uri="{FF2B5EF4-FFF2-40B4-BE49-F238E27FC236}">
                <a16:creationId xmlns:a16="http://schemas.microsoft.com/office/drawing/2014/main" id="{6B540077-563F-1108-140E-3944C6CB4367}"/>
              </a:ext>
            </a:extLst>
          </p:cNvPr>
          <p:cNvSpPr txBox="1"/>
          <p:nvPr/>
        </p:nvSpPr>
        <p:spPr>
          <a:xfrm>
            <a:off x="831448" y="6291587"/>
            <a:ext cx="11215787" cy="993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400" b="1" dirty="0">
                <a:solidFill>
                  <a:schemeClr val="bg1"/>
                </a:solidFill>
                <a:latin typeface="Montserrat" panose="02000505000000020004" pitchFamily="2" charset="0"/>
              </a:rPr>
              <a:t>Background</a:t>
            </a:r>
            <a:endParaRPr lang="es-ES" sz="4400" dirty="0">
              <a:solidFill>
                <a:schemeClr val="bg1"/>
              </a:solidFill>
              <a:latin typeface="Montserrat Light" panose="00000400000000000000" pitchFamily="2" charset="0"/>
            </a:endParaRPr>
          </a:p>
        </p:txBody>
      </p:sp>
      <p:sp>
        <p:nvSpPr>
          <p:cNvPr id="24" name="CuadroTexto 5 4 1">
            <a:extLst>
              <a:ext uri="{FF2B5EF4-FFF2-40B4-BE49-F238E27FC236}">
                <a16:creationId xmlns:a16="http://schemas.microsoft.com/office/drawing/2014/main" id="{686E8A7C-669D-BAD4-2DF1-50853007255B}"/>
              </a:ext>
            </a:extLst>
          </p:cNvPr>
          <p:cNvSpPr txBox="1"/>
          <p:nvPr/>
        </p:nvSpPr>
        <p:spPr>
          <a:xfrm>
            <a:off x="16495889" y="39121972"/>
            <a:ext cx="15061110" cy="37023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3200" dirty="0">
                <a:latin typeface="Montserrat Light" panose="00000400000000000000" pitchFamily="2" charset="0"/>
              </a:rPr>
              <a:t>CONAC was proposed for SM drives with input voltage saturation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3200" dirty="0">
                <a:latin typeface="Montserrat Light" panose="00000400000000000000" pitchFamily="2" charset="0"/>
              </a:rPr>
              <a:t>Stability and constraint satisfaction were ensured via Lyapuonv theory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3200" dirty="0">
                <a:latin typeface="Montserrat Light" panose="00000400000000000000" pitchFamily="2" charset="0"/>
              </a:rPr>
              <a:t>As future work, the following </a:t>
            </a:r>
            <a:r>
              <a:rPr lang="en-US" sz="3200" dirty="0">
                <a:latin typeface="Montserrat Light" panose="00000400000000000000" pitchFamily="2" charset="0"/>
              </a:rPr>
              <a:t>subjects will be investigated</a:t>
            </a:r>
            <a:endParaRPr lang="es-ES" sz="3200" dirty="0">
              <a:latin typeface="Montserrat Light" panose="00000400000000000000" pitchFamily="2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3200" dirty="0">
                <a:latin typeface="Montserrat Light" panose="00000400000000000000" pitchFamily="2" charset="0"/>
              </a:rPr>
              <a:t>The </a:t>
            </a:r>
            <a:r>
              <a:rPr lang="es-ES" sz="3200" dirty="0" err="1">
                <a:latin typeface="Montserrat Light" panose="00000400000000000000" pitchFamily="2" charset="0"/>
              </a:rPr>
              <a:t>parameter</a:t>
            </a:r>
            <a:r>
              <a:rPr lang="es-ES" sz="3200" dirty="0">
                <a:latin typeface="Montserrat Light" panose="00000400000000000000" pitchFamily="2" charset="0"/>
              </a:rPr>
              <a:t> </a:t>
            </a:r>
            <a:r>
              <a:rPr lang="es-ES" sz="3200" dirty="0" err="1">
                <a:latin typeface="Montserrat Light" panose="00000400000000000000" pitchFamily="2" charset="0"/>
              </a:rPr>
              <a:t>dependencies</a:t>
            </a:r>
            <a:r>
              <a:rPr lang="es-ES" sz="3200" dirty="0">
                <a:latin typeface="Montserrat Light" panose="00000400000000000000" pitchFamily="2" charset="0"/>
              </a:rPr>
              <a:t> of CONAC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3200" dirty="0">
                <a:latin typeface="Montserrat Light" panose="00000400000000000000" pitchFamily="2" charset="0"/>
              </a:rPr>
              <a:t>Real-time implementation to validate the effectiveness and feasibility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45BB397-E3EA-FF81-5818-F70DB3D313B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72151" y="8338075"/>
            <a:ext cx="12585421" cy="3377706"/>
          </a:xfrm>
          <a:prstGeom prst="rect">
            <a:avLst/>
          </a:prstGeom>
        </p:spPr>
      </p:pic>
      <p:pic>
        <p:nvPicPr>
          <p:cNvPr id="26" name="Picture 25" descr="A graph showing a number of lines&#10;&#10;AI-generated content may be incorrect.">
            <a:extLst>
              <a:ext uri="{FF2B5EF4-FFF2-40B4-BE49-F238E27FC236}">
                <a16:creationId xmlns:a16="http://schemas.microsoft.com/office/drawing/2014/main" id="{F2BA8249-2543-438F-3F6B-816DB63E8EC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2281" y="15747325"/>
            <a:ext cx="12672000" cy="3960000"/>
          </a:xfrm>
          <a:prstGeom prst="rect">
            <a:avLst/>
          </a:prstGeom>
        </p:spPr>
      </p:pic>
      <p:pic>
        <p:nvPicPr>
          <p:cNvPr id="27" name="Picture 26" descr="A graph showing a line graph&#10;&#10;AI-generated content may be incorrect.">
            <a:extLst>
              <a:ext uri="{FF2B5EF4-FFF2-40B4-BE49-F238E27FC236}">
                <a16:creationId xmlns:a16="http://schemas.microsoft.com/office/drawing/2014/main" id="{5D9AE6B5-35F9-AE6C-E297-7A22B0008F2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72281" y="19480055"/>
            <a:ext cx="12672000" cy="3960000"/>
          </a:xfrm>
          <a:prstGeom prst="rect">
            <a:avLst/>
          </a:prstGeom>
        </p:spPr>
      </p:pic>
      <p:pic>
        <p:nvPicPr>
          <p:cNvPr id="28" name="Picture 27" descr="A graph showing a graph&#10;&#10;AI-generated content may be incorrect.">
            <a:extLst>
              <a:ext uri="{FF2B5EF4-FFF2-40B4-BE49-F238E27FC236}">
                <a16:creationId xmlns:a16="http://schemas.microsoft.com/office/drawing/2014/main" id="{9D97D011-8021-F566-BBBD-211BE9180198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0212" y="24058125"/>
            <a:ext cx="12672000" cy="3960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2426A63F-A280-862D-5DD4-902D1E536F97}"/>
              </a:ext>
            </a:extLst>
          </p:cNvPr>
          <p:cNvSpPr/>
          <p:nvPr/>
        </p:nvSpPr>
        <p:spPr>
          <a:xfrm>
            <a:off x="16291561" y="13839466"/>
            <a:ext cx="15437643" cy="24034377"/>
          </a:xfrm>
          <a:prstGeom prst="rect">
            <a:avLst/>
          </a:prstGeom>
          <a:noFill/>
          <a:ln w="889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FDBFD6-3199-403D-1EFD-FCA80CF3E261}"/>
              </a:ext>
            </a:extLst>
          </p:cNvPr>
          <p:cNvSpPr/>
          <p:nvPr/>
        </p:nvSpPr>
        <p:spPr>
          <a:xfrm>
            <a:off x="16291561" y="12970788"/>
            <a:ext cx="15437643" cy="1022605"/>
          </a:xfrm>
          <a:prstGeom prst="rect">
            <a:avLst/>
          </a:prstGeom>
          <a:solidFill>
            <a:srgbClr val="7CA2D6"/>
          </a:solidFill>
          <a:ln w="889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23" name="CuadroTexto 5 6">
            <a:extLst>
              <a:ext uri="{FF2B5EF4-FFF2-40B4-BE49-F238E27FC236}">
                <a16:creationId xmlns:a16="http://schemas.microsoft.com/office/drawing/2014/main" id="{486B3751-1804-E22A-C01C-A842BA687D73}"/>
              </a:ext>
            </a:extLst>
          </p:cNvPr>
          <p:cNvSpPr txBox="1"/>
          <p:nvPr/>
        </p:nvSpPr>
        <p:spPr>
          <a:xfrm>
            <a:off x="16603465" y="12863210"/>
            <a:ext cx="11215787" cy="993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400" b="1" dirty="0">
                <a:solidFill>
                  <a:schemeClr val="bg1"/>
                </a:solidFill>
                <a:latin typeface="Montserrat" panose="02000505000000020004" pitchFamily="2" charset="0"/>
              </a:rPr>
              <a:t>Numerical Validation</a:t>
            </a:r>
            <a:endParaRPr lang="es-ES" sz="4400" dirty="0">
              <a:solidFill>
                <a:schemeClr val="bg1"/>
              </a:solidFill>
              <a:latin typeface="Montserrat Light" panose="00000400000000000000" pitchFamily="2" charset="0"/>
            </a:endParaRPr>
          </a:p>
        </p:txBody>
      </p:sp>
      <p:sp>
        <p:nvSpPr>
          <p:cNvPr id="35" name="CuadroTexto 5 7">
            <a:extLst>
              <a:ext uri="{FF2B5EF4-FFF2-40B4-BE49-F238E27FC236}">
                <a16:creationId xmlns:a16="http://schemas.microsoft.com/office/drawing/2014/main" id="{60CB4F29-0076-6BC6-DBA5-3BE45AF4705E}"/>
              </a:ext>
            </a:extLst>
          </p:cNvPr>
          <p:cNvSpPr txBox="1"/>
          <p:nvPr/>
        </p:nvSpPr>
        <p:spPr>
          <a:xfrm>
            <a:off x="980324" y="38009317"/>
            <a:ext cx="11215787" cy="911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rgbClr val="0069A3"/>
                </a:solidFill>
                <a:latin typeface="Montserrat" panose="02000505000000020004" pitchFamily="2" charset="0"/>
              </a:rPr>
              <a:t>Contributions</a:t>
            </a:r>
            <a:endParaRPr lang="es-ES" sz="4000" dirty="0">
              <a:latin typeface="Montserrat Light" panose="00000400000000000000" pitchFamily="2" charset="0"/>
            </a:endParaRPr>
          </a:p>
        </p:txBody>
      </p:sp>
      <p:sp>
        <p:nvSpPr>
          <p:cNvPr id="36" name="CuadroTexto 5 8 1">
            <a:extLst>
              <a:ext uri="{FF2B5EF4-FFF2-40B4-BE49-F238E27FC236}">
                <a16:creationId xmlns:a16="http://schemas.microsoft.com/office/drawing/2014/main" id="{74EF389B-61E2-1465-870C-A791687D53E1}"/>
              </a:ext>
            </a:extLst>
          </p:cNvPr>
          <p:cNvSpPr txBox="1"/>
          <p:nvPr/>
        </p:nvSpPr>
        <p:spPr>
          <a:xfrm>
            <a:off x="1006356" y="22379260"/>
            <a:ext cx="11215787" cy="911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rgbClr val="0069A3"/>
                </a:solidFill>
                <a:latin typeface="Montserrat" panose="02000505000000020004" pitchFamily="2" charset="0"/>
              </a:rPr>
              <a:t>Constraints formulation</a:t>
            </a:r>
            <a:endParaRPr lang="es-ES" sz="4000" dirty="0">
              <a:latin typeface="Montserrat Light" panose="00000400000000000000" pitchFamily="2" charset="0"/>
            </a:endParaRPr>
          </a:p>
        </p:txBody>
      </p:sp>
      <p:sp>
        <p:nvSpPr>
          <p:cNvPr id="37" name="CuadroTexto 5 9 1">
            <a:extLst>
              <a:ext uri="{FF2B5EF4-FFF2-40B4-BE49-F238E27FC236}">
                <a16:creationId xmlns:a16="http://schemas.microsoft.com/office/drawing/2014/main" id="{A4B4C40A-88DB-EAF8-31C9-254FDD3AAFAF}"/>
              </a:ext>
            </a:extLst>
          </p:cNvPr>
          <p:cNvSpPr txBox="1"/>
          <p:nvPr/>
        </p:nvSpPr>
        <p:spPr>
          <a:xfrm>
            <a:off x="1128805" y="26893679"/>
            <a:ext cx="13573638" cy="911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rgbClr val="0069A3"/>
                </a:solidFill>
                <a:latin typeface="Montserrat" panose="02000505000000020004" pitchFamily="2" charset="0"/>
              </a:rPr>
              <a:t>Constrained optimization problem</a:t>
            </a:r>
            <a:endParaRPr lang="es-ES" sz="4000" dirty="0">
              <a:latin typeface="Montserrat Light" panose="00000400000000000000" pitchFamily="2" charset="0"/>
            </a:endParaRPr>
          </a:p>
        </p:txBody>
      </p:sp>
      <p:sp>
        <p:nvSpPr>
          <p:cNvPr id="40" name="CuadroTexto 5 12 1 1">
            <a:extLst>
              <a:ext uri="{FF2B5EF4-FFF2-40B4-BE49-F238E27FC236}">
                <a16:creationId xmlns:a16="http://schemas.microsoft.com/office/drawing/2014/main" id="{45BAE1F9-69D7-2AD8-7A43-6438BFD2A8D5}"/>
              </a:ext>
            </a:extLst>
          </p:cNvPr>
          <p:cNvSpPr txBox="1"/>
          <p:nvPr/>
        </p:nvSpPr>
        <p:spPr>
          <a:xfrm>
            <a:off x="1385645" y="23256278"/>
            <a:ext cx="13468173" cy="2502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Montserrat" panose="02000505000000020004" pitchFamily="2" charset="0"/>
              </a:rPr>
              <a:t>Constraint 1: Weight boundedness (1 hidden layer)</a:t>
            </a:r>
          </a:p>
          <a:p>
            <a:pPr>
              <a:lnSpc>
                <a:spcPct val="150000"/>
              </a:lnSpc>
            </a:pPr>
            <a:endParaRPr lang="en-US" sz="4400" dirty="0">
              <a:latin typeface="Montserrat" panose="02000505000000020004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Montserrat" panose="02000505000000020004" pitchFamily="2" charset="0"/>
              </a:rPr>
              <a:t>Constraint 2: Input saturation</a:t>
            </a:r>
          </a:p>
        </p:txBody>
      </p:sp>
      <p:pic>
        <p:nvPicPr>
          <p:cNvPr id="71" name="Picture 70">
            <a:extLst>
              <a:ext uri="{FF2B5EF4-FFF2-40B4-BE49-F238E27FC236}">
                <a16:creationId xmlns:a16="http://schemas.microsoft.com/office/drawing/2014/main" id="{98B46F49-A672-350A-CA9B-6090853E4DC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7851" y="28687359"/>
            <a:ext cx="5386662" cy="202666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D39BF20-7ADF-C8C7-88B8-473324EB5CA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8441" y="31955278"/>
            <a:ext cx="10035548" cy="804444"/>
          </a:xfrm>
          <a:prstGeom prst="rect">
            <a:avLst/>
          </a:prstGeom>
        </p:spPr>
      </p:pic>
      <p:pic>
        <p:nvPicPr>
          <p:cNvPr id="92" name="Picture 91">
            <a:extLst>
              <a:ext uri="{FF2B5EF4-FFF2-40B4-BE49-F238E27FC236}">
                <a16:creationId xmlns:a16="http://schemas.microsoft.com/office/drawing/2014/main" id="{30DBDFF7-5140-79AB-0186-228631D61FA9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776" y="34550867"/>
            <a:ext cx="12368878" cy="2853332"/>
          </a:xfrm>
          <a:prstGeom prst="rect">
            <a:avLst/>
          </a:prstGeom>
        </p:spPr>
      </p:pic>
      <p:sp>
        <p:nvSpPr>
          <p:cNvPr id="57" name="CuadroTexto 5 9 2">
            <a:extLst>
              <a:ext uri="{FF2B5EF4-FFF2-40B4-BE49-F238E27FC236}">
                <a16:creationId xmlns:a16="http://schemas.microsoft.com/office/drawing/2014/main" id="{33C356F4-B74F-FF1D-0250-74132A7666AB}"/>
              </a:ext>
            </a:extLst>
          </p:cNvPr>
          <p:cNvSpPr txBox="1"/>
          <p:nvPr/>
        </p:nvSpPr>
        <p:spPr>
          <a:xfrm>
            <a:off x="1176289" y="32780500"/>
            <a:ext cx="11215787" cy="911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rgbClr val="0069A3"/>
                </a:solidFill>
                <a:latin typeface="Montserrat" panose="02000505000000020004" pitchFamily="2" charset="0"/>
              </a:rPr>
              <a:t>Adaptation law derivation</a:t>
            </a:r>
            <a:endParaRPr lang="es-ES" sz="4000" dirty="0">
              <a:latin typeface="Montserrat Light" panose="00000400000000000000" pitchFamily="2" charset="0"/>
            </a:endParaRPr>
          </a:p>
        </p:txBody>
      </p:sp>
      <p:sp>
        <p:nvSpPr>
          <p:cNvPr id="58" name="CuadroTexto 5 4 2 1">
            <a:extLst>
              <a:ext uri="{FF2B5EF4-FFF2-40B4-BE49-F238E27FC236}">
                <a16:creationId xmlns:a16="http://schemas.microsoft.com/office/drawing/2014/main" id="{4A0D66E8-417C-8F04-F58C-113152F88CEA}"/>
              </a:ext>
            </a:extLst>
          </p:cNvPr>
          <p:cNvSpPr txBox="1"/>
          <p:nvPr/>
        </p:nvSpPr>
        <p:spPr>
          <a:xfrm>
            <a:off x="980324" y="38860133"/>
            <a:ext cx="14245794" cy="2225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Montserrat" panose="02000505000000020004" pitchFamily="2" charset="0"/>
              </a:rPr>
              <a:t>No prior </a:t>
            </a:r>
            <a:r>
              <a:rPr lang="en-US" sz="3200" dirty="0">
                <a:solidFill>
                  <a:srgbClr val="DB874F"/>
                </a:solidFill>
                <a:latin typeface="Montserrat" panose="02000505000000020004" pitchFamily="2" charset="0"/>
              </a:rPr>
              <a:t>system information</a:t>
            </a:r>
            <a:r>
              <a:rPr lang="en-US" sz="3200" dirty="0">
                <a:latin typeface="Montserrat" panose="02000505000000020004" pitchFamily="2" charset="0"/>
              </a:rPr>
              <a:t> is required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Montserrat" panose="02000505000000020004" pitchFamily="2" charset="0"/>
              </a:rPr>
              <a:t>Adaptation laws are derived based on </a:t>
            </a:r>
            <a:r>
              <a:rPr lang="en-US" sz="3200" dirty="0">
                <a:solidFill>
                  <a:srgbClr val="DB874F"/>
                </a:solidFill>
                <a:latin typeface="Montserrat" panose="02000505000000020004" pitchFamily="2" charset="0"/>
              </a:rPr>
              <a:t>constrained optimization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DB874F"/>
                </a:solidFill>
                <a:latin typeface="Montserrat" panose="02000505000000020004" pitchFamily="2" charset="0"/>
              </a:rPr>
              <a:t>Stability</a:t>
            </a:r>
            <a:r>
              <a:rPr lang="en-US" sz="3200" dirty="0">
                <a:latin typeface="Montserrat" panose="02000505000000020004" pitchFamily="2" charset="0"/>
              </a:rPr>
              <a:t> is guaranteed using Lyapunov theory, see </a:t>
            </a:r>
            <a:r>
              <a:rPr lang="en-US" sz="3200" dirty="0" err="1">
                <a:latin typeface="Montserrat" panose="02000505000000020004" pitchFamily="2" charset="0"/>
              </a:rPr>
              <a:t>Thm</a:t>
            </a:r>
            <a:r>
              <a:rPr lang="en-US" sz="3200" dirty="0">
                <a:latin typeface="Montserrat" panose="02000505000000020004" pitchFamily="2" charset="0"/>
              </a:rPr>
              <a:t>. 1 in Paper</a:t>
            </a:r>
            <a:endParaRPr lang="es-ES" sz="3200" dirty="0">
              <a:latin typeface="Montserrat Light" panose="00000400000000000000" pitchFamily="2" charset="0"/>
            </a:endParaRP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3B79EBC2-1997-FBDA-F26F-6D0E83CF2534}"/>
              </a:ext>
            </a:extLst>
          </p:cNvPr>
          <p:cNvSpPr/>
          <p:nvPr/>
        </p:nvSpPr>
        <p:spPr>
          <a:xfrm>
            <a:off x="991406" y="7590237"/>
            <a:ext cx="7894058" cy="2529056"/>
          </a:xfrm>
          <a:prstGeom prst="roundRect">
            <a:avLst>
              <a:gd name="adj" fmla="val 9292"/>
            </a:avLst>
          </a:prstGeom>
          <a:solidFill>
            <a:srgbClr val="7CA2D6">
              <a:alpha val="2367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DE6B9025-FA56-4526-72A3-5AF82EC6122F}"/>
              </a:ext>
            </a:extLst>
          </p:cNvPr>
          <p:cNvSpPr/>
          <p:nvPr/>
        </p:nvSpPr>
        <p:spPr>
          <a:xfrm>
            <a:off x="1031596" y="10306281"/>
            <a:ext cx="7987613" cy="2214223"/>
          </a:xfrm>
          <a:prstGeom prst="roundRect">
            <a:avLst>
              <a:gd name="adj" fmla="val 9292"/>
            </a:avLst>
          </a:prstGeom>
          <a:solidFill>
            <a:srgbClr val="7CA2D6">
              <a:alpha val="2367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62" name="CuadroTexto 5 10">
            <a:extLst>
              <a:ext uri="{FF2B5EF4-FFF2-40B4-BE49-F238E27FC236}">
                <a16:creationId xmlns:a16="http://schemas.microsoft.com/office/drawing/2014/main" id="{79171A3D-0846-C1E8-9A3D-4C2ADF72F2C3}"/>
              </a:ext>
            </a:extLst>
          </p:cNvPr>
          <p:cNvSpPr txBox="1"/>
          <p:nvPr/>
        </p:nvSpPr>
        <p:spPr>
          <a:xfrm>
            <a:off x="1247581" y="7675603"/>
            <a:ext cx="7637883" cy="2143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Montserrat" panose="02000505000000020004" pitchFamily="2" charset="0"/>
              </a:rPr>
              <a:t>Motivation 1:</a:t>
            </a:r>
          </a:p>
          <a:p>
            <a:pPr>
              <a:lnSpc>
                <a:spcPct val="150000"/>
              </a:lnSpc>
            </a:pPr>
            <a:r>
              <a:rPr lang="es-ES_tradnl" sz="3200" noProof="1">
                <a:latin typeface="Montserrat Light" panose="00000400000000000000" pitchFamily="2" charset="0"/>
              </a:rPr>
              <a:t>Exact</a:t>
            </a:r>
            <a:r>
              <a:rPr lang="es-ES" sz="3200" dirty="0">
                <a:latin typeface="Montserrat Light" panose="00000400000000000000" pitchFamily="2" charset="0"/>
              </a:rPr>
              <a:t> </a:t>
            </a:r>
            <a:r>
              <a:rPr lang="es-ES" sz="3200" dirty="0" err="1">
                <a:latin typeface="Montserrat Light" panose="00000400000000000000" pitchFamily="2" charset="0"/>
              </a:rPr>
              <a:t>system</a:t>
            </a:r>
            <a:r>
              <a:rPr lang="es-ES" sz="3200" dirty="0">
                <a:latin typeface="Montserrat Light" panose="00000400000000000000" pitchFamily="2" charset="0"/>
              </a:rPr>
              <a:t> </a:t>
            </a:r>
            <a:r>
              <a:rPr lang="es-ES" sz="3200" dirty="0" err="1">
                <a:latin typeface="Montserrat Light" panose="00000400000000000000" pitchFamily="2" charset="0"/>
              </a:rPr>
              <a:t>knowledge</a:t>
            </a:r>
            <a:r>
              <a:rPr lang="es-ES" sz="3200" dirty="0">
                <a:latin typeface="Montserrat Light" panose="00000400000000000000" pitchFamily="2" charset="0"/>
              </a:rPr>
              <a:t> </a:t>
            </a:r>
            <a:r>
              <a:rPr lang="es-ES" sz="3200" dirty="0" err="1">
                <a:latin typeface="Montserrat Light" panose="00000400000000000000" pitchFamily="2" charset="0"/>
              </a:rPr>
              <a:t>is</a:t>
            </a:r>
            <a:r>
              <a:rPr lang="es-ES" sz="3200" dirty="0">
                <a:latin typeface="Montserrat Light" panose="00000400000000000000" pitchFamily="2" charset="0"/>
              </a:rPr>
              <a:t> </a:t>
            </a:r>
            <a:r>
              <a:rPr lang="es-ES" sz="3200" dirty="0" err="1">
                <a:latin typeface="Montserrat Light" panose="00000400000000000000" pitchFamily="2" charset="0"/>
              </a:rPr>
              <a:t>required</a:t>
            </a:r>
            <a:r>
              <a:rPr lang="es-ES" sz="3200" dirty="0">
                <a:latin typeface="Montserrat Light" panose="00000400000000000000" pitchFamily="2" charset="0"/>
              </a:rPr>
              <a:t>,</a:t>
            </a:r>
            <a:r>
              <a:rPr lang="es-ES" sz="2400" dirty="0">
                <a:latin typeface="Montserrat Light" panose="00000400000000000000" pitchFamily="2" charset="0"/>
              </a:rPr>
              <a:t> </a:t>
            </a:r>
            <a:r>
              <a:rPr lang="es-ES" sz="2800" dirty="0" err="1">
                <a:latin typeface="Montserrat Light" panose="00000400000000000000" pitchFamily="2" charset="0"/>
              </a:rPr>
              <a:t>e.g</a:t>
            </a:r>
            <a:r>
              <a:rPr lang="es-ES" sz="2800" dirty="0">
                <a:latin typeface="Montserrat Light" panose="00000400000000000000" pitchFamily="2" charset="0"/>
              </a:rPr>
              <a:t>., </a:t>
            </a:r>
            <a:r>
              <a:rPr lang="es-ES" sz="2800" dirty="0" err="1">
                <a:latin typeface="Montserrat Light" panose="00000400000000000000" pitchFamily="2" charset="0"/>
              </a:rPr>
              <a:t>resistances</a:t>
            </a:r>
            <a:r>
              <a:rPr lang="es-ES" sz="2800" dirty="0">
                <a:latin typeface="Montserrat Light" panose="00000400000000000000" pitchFamily="2" charset="0"/>
              </a:rPr>
              <a:t> and flux </a:t>
            </a:r>
            <a:r>
              <a:rPr lang="es-ES" sz="2800" dirty="0" err="1">
                <a:latin typeface="Montserrat Light" panose="00000400000000000000" pitchFamily="2" charset="0"/>
              </a:rPr>
              <a:t>linkages</a:t>
            </a:r>
            <a:endParaRPr lang="es-ES" sz="3200" dirty="0">
              <a:latin typeface="Montserrat Light" panose="00000400000000000000" pitchFamily="2" charset="0"/>
            </a:endParaRPr>
          </a:p>
        </p:txBody>
      </p:sp>
      <p:sp>
        <p:nvSpPr>
          <p:cNvPr id="63" name="CuadroTexto 5 11 1">
            <a:extLst>
              <a:ext uri="{FF2B5EF4-FFF2-40B4-BE49-F238E27FC236}">
                <a16:creationId xmlns:a16="http://schemas.microsoft.com/office/drawing/2014/main" id="{6D4B815F-B5B1-B4A7-599E-9BBE831D4112}"/>
              </a:ext>
            </a:extLst>
          </p:cNvPr>
          <p:cNvSpPr txBox="1"/>
          <p:nvPr/>
        </p:nvSpPr>
        <p:spPr>
          <a:xfrm>
            <a:off x="1263196" y="10214286"/>
            <a:ext cx="6769236" cy="22250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Montserrat" panose="02000505000000020004" pitchFamily="2" charset="0"/>
              </a:rPr>
              <a:t>Motivation 2:</a:t>
            </a:r>
          </a:p>
          <a:p>
            <a:pPr>
              <a:lnSpc>
                <a:spcPct val="150000"/>
              </a:lnSpc>
            </a:pPr>
            <a:r>
              <a:rPr lang="es-ES_tradnl" sz="3200" noProof="1">
                <a:latin typeface="Montserrat Light" panose="00000400000000000000" pitchFamily="2" charset="0"/>
              </a:rPr>
              <a:t>Input saturation by </a:t>
            </a:r>
          </a:p>
          <a:p>
            <a:pPr>
              <a:lnSpc>
                <a:spcPct val="150000"/>
              </a:lnSpc>
            </a:pPr>
            <a:r>
              <a:rPr lang="es-ES_tradnl" sz="3200" noProof="1">
                <a:latin typeface="Montserrat Light" panose="00000400000000000000" pitchFamily="2" charset="0"/>
              </a:rPr>
              <a:t>voltage source inverter (VSI)</a:t>
            </a:r>
            <a:endParaRPr lang="es-ES" sz="3200" dirty="0">
              <a:latin typeface="Montserrat Light" panose="00000400000000000000" pitchFamily="2" charset="0"/>
            </a:endParaRPr>
          </a:p>
        </p:txBody>
      </p: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404BEDFF-52F8-68EF-F1A7-16BB95CDAE13}"/>
              </a:ext>
            </a:extLst>
          </p:cNvPr>
          <p:cNvCxnSpPr>
            <a:cxnSpLocks/>
          </p:cNvCxnSpPr>
          <p:nvPr/>
        </p:nvCxnSpPr>
        <p:spPr>
          <a:xfrm flipH="1">
            <a:off x="9029773" y="11887992"/>
            <a:ext cx="7662817" cy="0"/>
          </a:xfrm>
          <a:prstGeom prst="straightConnector1">
            <a:avLst/>
          </a:prstGeom>
          <a:ln w="76200" cmpd="thinThick">
            <a:solidFill>
              <a:srgbClr val="0432FF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0AEF3B6A-6532-DE57-1DA0-1B884C4C0E9A}"/>
              </a:ext>
            </a:extLst>
          </p:cNvPr>
          <p:cNvCxnSpPr>
            <a:cxnSpLocks/>
          </p:cNvCxnSpPr>
          <p:nvPr/>
        </p:nvCxnSpPr>
        <p:spPr>
          <a:xfrm>
            <a:off x="16687138" y="10119293"/>
            <a:ext cx="5452" cy="1768699"/>
          </a:xfrm>
          <a:prstGeom prst="line">
            <a:avLst/>
          </a:prstGeom>
          <a:ln w="76200" cmpd="thinThick">
            <a:solidFill>
              <a:srgbClr val="0432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CuadroTexto 5 4 3">
            <a:extLst>
              <a:ext uri="{FF2B5EF4-FFF2-40B4-BE49-F238E27FC236}">
                <a16:creationId xmlns:a16="http://schemas.microsoft.com/office/drawing/2014/main" id="{EEA03C00-6E77-EDA0-81EA-2BD49CBC7080}"/>
              </a:ext>
            </a:extLst>
          </p:cNvPr>
          <p:cNvSpPr txBox="1"/>
          <p:nvPr/>
        </p:nvSpPr>
        <p:spPr>
          <a:xfrm>
            <a:off x="1385645" y="30842186"/>
            <a:ext cx="13850054" cy="747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>
                <a:latin typeface="Montserrat" panose="02000505000000020004" pitchFamily="2" charset="0"/>
              </a:rPr>
              <a:t>Lagrangian function</a:t>
            </a:r>
            <a:endParaRPr lang="es-ES" sz="3200">
              <a:latin typeface="Montserrat Light" panose="00000400000000000000" pitchFamily="2" charset="0"/>
            </a:endParaRPr>
          </a:p>
        </p:txBody>
      </p:sp>
      <p:sp>
        <p:nvSpPr>
          <p:cNvPr id="67" name="CuadroTexto 5 4 4 1">
            <a:extLst>
              <a:ext uri="{FF2B5EF4-FFF2-40B4-BE49-F238E27FC236}">
                <a16:creationId xmlns:a16="http://schemas.microsoft.com/office/drawing/2014/main" id="{5ECFBDB0-5189-B39F-B832-0637EBD29C19}"/>
              </a:ext>
            </a:extLst>
          </p:cNvPr>
          <p:cNvSpPr txBox="1"/>
          <p:nvPr/>
        </p:nvSpPr>
        <p:spPr>
          <a:xfrm>
            <a:off x="1176289" y="33585521"/>
            <a:ext cx="13850054" cy="1486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Montserrat" panose="02000505000000020004" pitchFamily="2" charset="0"/>
              </a:rPr>
              <a:t>Gradient descent/ascent methods (dual problem)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sz="3200" dirty="0">
              <a:latin typeface="Montserrat Light" panose="00000400000000000000" pitchFamily="2" charset="0"/>
            </a:endParaRP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59CCC6EE-ED38-5D0C-AEE6-C84FC8CA1731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8442" y="24152808"/>
            <a:ext cx="10875546" cy="86666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300A5A7-42D3-C52F-8D5B-358B4A81CF75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3175" y="25781906"/>
            <a:ext cx="9755549" cy="866667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71E5A10-5B2B-0565-F919-2DFCC7AEB077}"/>
              </a:ext>
            </a:extLst>
          </p:cNvPr>
          <p:cNvCxnSpPr>
            <a:cxnSpLocks/>
          </p:cNvCxnSpPr>
          <p:nvPr/>
        </p:nvCxnSpPr>
        <p:spPr>
          <a:xfrm>
            <a:off x="20448483" y="8338075"/>
            <a:ext cx="0" cy="1013015"/>
          </a:xfrm>
          <a:prstGeom prst="line">
            <a:avLst/>
          </a:prstGeom>
          <a:ln w="76200" cmpd="thinThick">
            <a:solidFill>
              <a:srgbClr val="0432FF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815F143-1CD2-AE72-2D00-04C1DBEEA75F}"/>
              </a:ext>
            </a:extLst>
          </p:cNvPr>
          <p:cNvCxnSpPr>
            <a:cxnSpLocks/>
          </p:cNvCxnSpPr>
          <p:nvPr/>
        </p:nvCxnSpPr>
        <p:spPr>
          <a:xfrm>
            <a:off x="13961850" y="24338642"/>
            <a:ext cx="1276326" cy="0"/>
          </a:xfrm>
          <a:prstGeom prst="line">
            <a:avLst/>
          </a:prstGeom>
          <a:ln w="76200" cmpd="thinThick">
            <a:solidFill>
              <a:schemeClr val="accent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59D35D2A-7E99-3965-9162-1C45310BC3A8}"/>
              </a:ext>
            </a:extLst>
          </p:cNvPr>
          <p:cNvCxnSpPr>
            <a:cxnSpLocks/>
          </p:cNvCxnSpPr>
          <p:nvPr/>
        </p:nvCxnSpPr>
        <p:spPr>
          <a:xfrm>
            <a:off x="13961850" y="26175483"/>
            <a:ext cx="1247373" cy="0"/>
          </a:xfrm>
          <a:prstGeom prst="line">
            <a:avLst/>
          </a:prstGeom>
          <a:ln w="76200" cmpd="thinThick">
            <a:solidFill>
              <a:schemeClr val="accent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59910D7-4C18-E849-D356-A7DFDD584C9E}"/>
              </a:ext>
            </a:extLst>
          </p:cNvPr>
          <p:cNvCxnSpPr>
            <a:cxnSpLocks/>
          </p:cNvCxnSpPr>
          <p:nvPr/>
        </p:nvCxnSpPr>
        <p:spPr>
          <a:xfrm flipH="1">
            <a:off x="15192456" y="24328444"/>
            <a:ext cx="59694" cy="6230285"/>
          </a:xfrm>
          <a:prstGeom prst="line">
            <a:avLst/>
          </a:prstGeom>
          <a:ln w="76200" cmpd="thinThick">
            <a:solidFill>
              <a:schemeClr val="accent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E0AA67D6-9DD5-6B7D-7CA4-D955E8B4411A}"/>
              </a:ext>
            </a:extLst>
          </p:cNvPr>
          <p:cNvCxnSpPr>
            <a:cxnSpLocks/>
          </p:cNvCxnSpPr>
          <p:nvPr/>
        </p:nvCxnSpPr>
        <p:spPr>
          <a:xfrm flipH="1">
            <a:off x="11380999" y="30544033"/>
            <a:ext cx="3828224" cy="14696"/>
          </a:xfrm>
          <a:prstGeom prst="straightConnector1">
            <a:avLst/>
          </a:prstGeom>
          <a:ln w="76200" cmpd="thinThick">
            <a:solidFill>
              <a:schemeClr val="accent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97B1F53-B954-F2DD-15BB-A74A6E8AE76F}"/>
              </a:ext>
            </a:extLst>
          </p:cNvPr>
          <p:cNvCxnSpPr>
            <a:cxnSpLocks/>
          </p:cNvCxnSpPr>
          <p:nvPr/>
        </p:nvCxnSpPr>
        <p:spPr>
          <a:xfrm flipH="1">
            <a:off x="8898720" y="8338075"/>
            <a:ext cx="11549763" cy="0"/>
          </a:xfrm>
          <a:prstGeom prst="straightConnector1">
            <a:avLst/>
          </a:prstGeom>
          <a:ln w="76200" cmpd="thinThick">
            <a:solidFill>
              <a:srgbClr val="0432FF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CuadroTexto 5">
            <a:extLst>
              <a:ext uri="{FF2B5EF4-FFF2-40B4-BE49-F238E27FC236}">
                <a16:creationId xmlns:a16="http://schemas.microsoft.com/office/drawing/2014/main" id="{E81E9F6B-451D-964C-63B9-CA9A98520AE6}"/>
              </a:ext>
            </a:extLst>
          </p:cNvPr>
          <p:cNvSpPr txBox="1"/>
          <p:nvPr/>
        </p:nvSpPr>
        <p:spPr>
          <a:xfrm>
            <a:off x="1328991" y="3491065"/>
            <a:ext cx="31476013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5400" b="1">
                <a:latin typeface="Montserrat Light" panose="00000400000000000000" pitchFamily="2" charset="0"/>
              </a:rPr>
              <a:t>Constrained Optimization-Based Neuro-Adaptive Control (CONAC) for Synchronous Machine Drives Under Voltage Constraints</a:t>
            </a:r>
            <a:r>
              <a:rPr lang="en-AU" sz="4000" b="1">
                <a:latin typeface="Montserrat Light" panose="00000400000000000000" pitchFamily="2" charset="0"/>
              </a:rPr>
              <a:t> </a:t>
            </a:r>
            <a:r>
              <a:rPr lang="en-AU" sz="4000">
                <a:latin typeface="Montserrat Light" panose="00000400000000000000" pitchFamily="2" charset="0"/>
              </a:rPr>
              <a:t>(ID: </a:t>
            </a:r>
            <a:r>
              <a:rPr lang="en-US" altLang="ko-KR" sz="4000">
                <a:latin typeface="Montserrat Light" panose="00000400000000000000" pitchFamily="2" charset="0"/>
              </a:rPr>
              <a:t>1360)</a:t>
            </a:r>
          </a:p>
          <a:p>
            <a:endParaRPr lang="es-ES" sz="900">
              <a:latin typeface="Montserrat Light" panose="00000400000000000000" pitchFamily="2" charset="0"/>
            </a:endParaRPr>
          </a:p>
          <a:p>
            <a:r>
              <a:rPr lang="en-US" sz="3200" b="1" err="1">
                <a:solidFill>
                  <a:srgbClr val="0069A3"/>
                </a:solidFill>
                <a:latin typeface="Montserrat Light" panose="00000400000000000000" pitchFamily="2" charset="0"/>
              </a:rPr>
              <a:t>Myeongseok</a:t>
            </a:r>
            <a:r>
              <a:rPr lang="en-US" sz="3200" b="1">
                <a:solidFill>
                  <a:srgbClr val="0069A3"/>
                </a:solidFill>
                <a:latin typeface="Montserrat Light" panose="00000400000000000000" pitchFamily="2" charset="0"/>
              </a:rPr>
              <a:t> Ryu*, Niklas </a:t>
            </a:r>
            <a:r>
              <a:rPr lang="en-US" sz="3200" b="1" err="1">
                <a:solidFill>
                  <a:srgbClr val="0069A3"/>
                </a:solidFill>
                <a:latin typeface="Montserrat Light" panose="00000400000000000000" pitchFamily="2" charset="0"/>
              </a:rPr>
              <a:t>Monzen</a:t>
            </a:r>
            <a:r>
              <a:rPr lang="en-US" sz="3200" b="1">
                <a:solidFill>
                  <a:srgbClr val="0069A3"/>
                </a:solidFill>
                <a:latin typeface="Montserrat Light" panose="00000400000000000000" pitchFamily="2" charset="0"/>
              </a:rPr>
              <a:t>**, Pascal Seitter**, </a:t>
            </a:r>
            <a:r>
              <a:rPr lang="en-US" sz="3200" b="1" err="1">
                <a:solidFill>
                  <a:srgbClr val="0069A3"/>
                </a:solidFill>
                <a:latin typeface="Montserrat Light" panose="00000400000000000000" pitchFamily="2" charset="0"/>
              </a:rPr>
              <a:t>Kyunghwan</a:t>
            </a:r>
            <a:r>
              <a:rPr lang="en-US" sz="3200" b="1">
                <a:solidFill>
                  <a:srgbClr val="0069A3"/>
                </a:solidFill>
                <a:latin typeface="Montserrat Light" panose="00000400000000000000" pitchFamily="2" charset="0"/>
              </a:rPr>
              <a:t> Choi* and Christoph M. Hackl** </a:t>
            </a:r>
          </a:p>
          <a:p>
            <a:r>
              <a:rPr lang="en-AU" sz="3200" i="1">
                <a:latin typeface="Montserrat Light" panose="00000400000000000000" pitchFamily="2" charset="0"/>
              </a:rPr>
              <a:t>(*) CCS Graduate School of Mobility, KAIST, Republic of Korea and (**) LMRES, Hochschule </a:t>
            </a:r>
            <a:r>
              <a:rPr lang="en-AU" sz="3200" i="1" err="1">
                <a:latin typeface="Montserrat Light" panose="00000400000000000000" pitchFamily="2" charset="0"/>
              </a:rPr>
              <a:t>Műnchen</a:t>
            </a:r>
            <a:r>
              <a:rPr lang="en-AU" sz="3200" i="1">
                <a:latin typeface="Montserrat Light" panose="00000400000000000000" pitchFamily="2" charset="0"/>
              </a:rPr>
              <a:t>, Germany</a:t>
            </a:r>
            <a:endParaRPr lang="es-ES" sz="3200" i="1">
              <a:latin typeface="Montserrat Light" panose="00000400000000000000" pitchFamily="2" charset="0"/>
            </a:endParaRPr>
          </a:p>
        </p:txBody>
      </p:sp>
      <p:sp>
        <p:nvSpPr>
          <p:cNvPr id="78" name="CuadroTexto 5 2 1">
            <a:extLst>
              <a:ext uri="{FF2B5EF4-FFF2-40B4-BE49-F238E27FC236}">
                <a16:creationId xmlns:a16="http://schemas.microsoft.com/office/drawing/2014/main" id="{3F70C685-73FB-8CFD-FE10-A52BFE945E0B}"/>
              </a:ext>
            </a:extLst>
          </p:cNvPr>
          <p:cNvSpPr txBox="1"/>
          <p:nvPr/>
        </p:nvSpPr>
        <p:spPr>
          <a:xfrm>
            <a:off x="16495889" y="38032003"/>
            <a:ext cx="11215787" cy="993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400" b="1">
                <a:solidFill>
                  <a:schemeClr val="bg1"/>
                </a:solidFill>
                <a:latin typeface="Montserrat" panose="02000505000000020004" pitchFamily="2" charset="0"/>
              </a:rPr>
              <a:t>Conclusion</a:t>
            </a:r>
            <a:endParaRPr lang="es-ES" sz="4400">
              <a:solidFill>
                <a:schemeClr val="bg1"/>
              </a:solidFill>
              <a:latin typeface="Montserrat Light" panose="00000400000000000000" pitchFamily="2" charset="0"/>
            </a:endParaRPr>
          </a:p>
        </p:txBody>
      </p:sp>
      <p:sp>
        <p:nvSpPr>
          <p:cNvPr id="80" name="CuadroTexto 5 2 2">
            <a:extLst>
              <a:ext uri="{FF2B5EF4-FFF2-40B4-BE49-F238E27FC236}">
                <a16:creationId xmlns:a16="http://schemas.microsoft.com/office/drawing/2014/main" id="{C9F62F68-28F8-6EF0-16F5-8FE99F5900AA}"/>
              </a:ext>
            </a:extLst>
          </p:cNvPr>
          <p:cNvSpPr txBox="1"/>
          <p:nvPr/>
        </p:nvSpPr>
        <p:spPr>
          <a:xfrm>
            <a:off x="23346399" y="6484973"/>
            <a:ext cx="8108153" cy="747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Montserrat" panose="02000505000000020004" pitchFamily="2" charset="0"/>
              </a:rPr>
              <a:t>Nomenclature</a:t>
            </a:r>
            <a:endParaRPr lang="es-ES" sz="3200" dirty="0">
              <a:latin typeface="Montserrat Light" panose="00000400000000000000" pitchFamily="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9" name="CuadroTexto 5 12 2">
                <a:extLst>
                  <a:ext uri="{FF2B5EF4-FFF2-40B4-BE49-F238E27FC236}">
                    <a16:creationId xmlns:a16="http://schemas.microsoft.com/office/drawing/2014/main" id="{60B1F2F9-04E7-DFDB-A6F1-87BD46726624}"/>
                  </a:ext>
                </a:extLst>
              </p:cNvPr>
              <p:cNvSpPr txBox="1"/>
              <p:nvPr/>
            </p:nvSpPr>
            <p:spPr>
              <a:xfrm>
                <a:off x="1385645" y="27771677"/>
                <a:ext cx="13468173" cy="8236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s-ES" sz="3200" dirty="0" err="1">
                    <a:latin typeface="Montserrat Light" panose="00000400000000000000" pitchFamily="2" charset="0"/>
                  </a:rPr>
                  <a:t>Quadratic</a:t>
                </a:r>
                <a:r>
                  <a:rPr lang="es-ES" sz="3200" dirty="0">
                    <a:latin typeface="Montserrat Light" panose="00000400000000000000" pitchFamily="2" charset="0"/>
                  </a:rPr>
                  <a:t> </a:t>
                </a:r>
                <a:r>
                  <a:rPr lang="es-ES" sz="3200" dirty="0" err="1">
                    <a:latin typeface="Montserrat Light" panose="00000400000000000000" pitchFamily="2" charset="0"/>
                  </a:rPr>
                  <a:t>objective</a:t>
                </a:r>
                <a:r>
                  <a:rPr lang="en-US" sz="3200" dirty="0">
                    <a:latin typeface="Montserrat Light" panose="00000400000000000000" pitchFamily="2" charset="0"/>
                  </a:rPr>
                  <a:t> function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r>
                  <a:rPr lang="en-US" sz="3200" dirty="0">
                    <a:latin typeface="Montserrat Light" panose="00000400000000000000" pitchFamily="2" charset="0"/>
                  </a:rPr>
                  <a:t> of tracking error </a:t>
                </a:r>
                <a14:m>
                  <m:oMath xmlns:m="http://schemas.openxmlformats.org/officeDocument/2006/math">
                    <m:r>
                      <a:rPr lang="en-US" sz="3200" b="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3200" b="0" i="1"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sz="32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3200" b="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3200" b="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32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sz="3200" b="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3200" b="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b="0" i="1">
                            <a:latin typeface="Cambria Math" panose="02040503050406030204" pitchFamily="18" charset="0"/>
                          </a:rPr>
                          <m:t>𝑟𝑒𝑓</m:t>
                        </m:r>
                      </m:sub>
                    </m:sSub>
                  </m:oMath>
                </a14:m>
                <a:r>
                  <a:rPr lang="en-US" sz="3200" dirty="0">
                    <a:latin typeface="Montserrat Light" panose="00000400000000000000" pitchFamily="2" charset="0"/>
                  </a:rPr>
                  <a:t> </a:t>
                </a:r>
                <a:r>
                  <a:rPr lang="es-ES" sz="3200" dirty="0">
                    <a:latin typeface="Montserrat Light" panose="00000400000000000000" pitchFamily="2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9" name="CuadroTexto 5 12 2">
                <a:extLst>
                  <a:ext uri="{FF2B5EF4-FFF2-40B4-BE49-F238E27FC236}">
                    <a16:creationId xmlns:a16="http://schemas.microsoft.com/office/drawing/2014/main" id="{60B1F2F9-04E7-DFDB-A6F1-87BD467266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5645" y="27771677"/>
                <a:ext cx="13468173" cy="823687"/>
              </a:xfrm>
              <a:prstGeom prst="rect">
                <a:avLst/>
              </a:prstGeom>
              <a:blipFill>
                <a:blip r:embed="rId25"/>
                <a:stretch>
                  <a:fillRect l="-1036" b="-18182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CuadroTexto 5 3 1">
            <a:extLst>
              <a:ext uri="{FF2B5EF4-FFF2-40B4-BE49-F238E27FC236}">
                <a16:creationId xmlns:a16="http://schemas.microsoft.com/office/drawing/2014/main" id="{B3B8C09D-7EDC-7A57-D767-B319461E0BB3}"/>
              </a:ext>
            </a:extLst>
          </p:cNvPr>
          <p:cNvSpPr txBox="1"/>
          <p:nvPr/>
        </p:nvSpPr>
        <p:spPr>
          <a:xfrm>
            <a:off x="888252" y="12864652"/>
            <a:ext cx="11215787" cy="993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400" b="1" dirty="0">
                <a:solidFill>
                  <a:schemeClr val="bg1"/>
                </a:solidFill>
                <a:latin typeface="Montserrat" panose="02000505000000020004" pitchFamily="2" charset="0"/>
              </a:rPr>
              <a:t>Proposed Method (CONAC)</a:t>
            </a:r>
            <a:endParaRPr lang="es-ES" sz="4400" dirty="0">
              <a:solidFill>
                <a:schemeClr val="bg1"/>
              </a:solidFill>
              <a:latin typeface="Montserrat Light" panose="00000400000000000000" pitchFamily="2" charset="0"/>
            </a:endParaRPr>
          </a:p>
        </p:txBody>
      </p:sp>
      <p:sp>
        <p:nvSpPr>
          <p:cNvPr id="98" name="CuadroTexto 5 3 2">
            <a:extLst>
              <a:ext uri="{FF2B5EF4-FFF2-40B4-BE49-F238E27FC236}">
                <a16:creationId xmlns:a16="http://schemas.microsoft.com/office/drawing/2014/main" id="{D941C645-1646-0820-45E8-28A82E67E236}"/>
              </a:ext>
            </a:extLst>
          </p:cNvPr>
          <p:cNvSpPr txBox="1"/>
          <p:nvPr/>
        </p:nvSpPr>
        <p:spPr>
          <a:xfrm>
            <a:off x="18191514" y="23240536"/>
            <a:ext cx="7550691" cy="665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rgbClr val="0069A3"/>
                </a:solidFill>
                <a:latin typeface="Montserrat" panose="02000505000000020004" pitchFamily="2" charset="0"/>
              </a:rPr>
              <a:t>Fig 1. Current tracking results</a:t>
            </a:r>
            <a:endParaRPr lang="es-ES" sz="2800" dirty="0">
              <a:latin typeface="Montserrat Light" panose="00000400000000000000" pitchFamily="2" charset="0"/>
            </a:endParaRPr>
          </a:p>
        </p:txBody>
      </p:sp>
      <p:sp>
        <p:nvSpPr>
          <p:cNvPr id="99" name="CuadroTexto 5 3 3 1">
            <a:extLst>
              <a:ext uri="{FF2B5EF4-FFF2-40B4-BE49-F238E27FC236}">
                <a16:creationId xmlns:a16="http://schemas.microsoft.com/office/drawing/2014/main" id="{20425C38-DF77-5BA0-B0C1-09D9463B4A87}"/>
              </a:ext>
            </a:extLst>
          </p:cNvPr>
          <p:cNvSpPr txBox="1"/>
          <p:nvPr/>
        </p:nvSpPr>
        <p:spPr>
          <a:xfrm>
            <a:off x="18230980" y="27954807"/>
            <a:ext cx="7550691" cy="660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rgbClr val="0069A3"/>
                </a:solidFill>
                <a:latin typeface="Montserrat" panose="02000505000000020004" pitchFamily="2" charset="0"/>
              </a:rPr>
              <a:t>Fig 2. Norm of control input (voltage)</a:t>
            </a:r>
            <a:endParaRPr lang="es-ES" sz="2800" dirty="0">
              <a:latin typeface="Montserrat Light" panose="00000400000000000000" pitchFamily="2" charset="0"/>
            </a:endParaRPr>
          </a:p>
        </p:txBody>
      </p:sp>
      <p:pic>
        <p:nvPicPr>
          <p:cNvPr id="103" name="Picture 102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AAA64DA8-2B57-A68A-0F0B-644662911C1D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1466" y="34326712"/>
            <a:ext cx="9132654" cy="3295287"/>
          </a:xfrm>
          <a:prstGeom prst="rect">
            <a:avLst/>
          </a:prstGeom>
        </p:spPr>
      </p:pic>
      <p:sp>
        <p:nvSpPr>
          <p:cNvPr id="104" name="CuadroTexto 5 12 1 2 1">
            <a:extLst>
              <a:ext uri="{FF2B5EF4-FFF2-40B4-BE49-F238E27FC236}">
                <a16:creationId xmlns:a16="http://schemas.microsoft.com/office/drawing/2014/main" id="{6910A527-DE2D-C12D-A705-74979DBAB469}"/>
              </a:ext>
            </a:extLst>
          </p:cNvPr>
          <p:cNvSpPr txBox="1"/>
          <p:nvPr/>
        </p:nvSpPr>
        <p:spPr>
          <a:xfrm>
            <a:off x="27286616" y="15603784"/>
            <a:ext cx="4528714" cy="8155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accent1"/>
                </a:solidFill>
                <a:latin typeface="Montserrat" panose="02000505000000020004" pitchFamily="2" charset="0"/>
              </a:rPr>
              <a:t>Tracking Performance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dirty="0" err="1">
                <a:latin typeface="Montserrat" panose="02000505000000020004" pitchFamily="2" charset="0"/>
              </a:rPr>
              <a:t>Both</a:t>
            </a:r>
            <a:r>
              <a:rPr lang="es-ES" sz="2800" dirty="0">
                <a:latin typeface="Montserrat" panose="02000505000000020004" pitchFamily="2" charset="0"/>
              </a:rPr>
              <a:t> </a:t>
            </a:r>
            <a:r>
              <a:rPr lang="es-ES" sz="2800" dirty="0" err="1">
                <a:latin typeface="Montserrat" panose="02000505000000020004" pitchFamily="2" charset="0"/>
              </a:rPr>
              <a:t>controllers</a:t>
            </a:r>
            <a:r>
              <a:rPr lang="es-ES" sz="2800" dirty="0">
                <a:latin typeface="Montserrat" panose="02000505000000020004" pitchFamily="2" charset="0"/>
              </a:rPr>
              <a:t> </a:t>
            </a:r>
            <a:r>
              <a:rPr lang="es-ES" sz="2800" dirty="0" err="1">
                <a:latin typeface="Montserrat" panose="02000505000000020004" pitchFamily="2" charset="0"/>
              </a:rPr>
              <a:t>demonstrated</a:t>
            </a:r>
            <a:r>
              <a:rPr lang="es-ES" sz="2800" dirty="0">
                <a:latin typeface="Montserrat" panose="02000505000000020004" pitchFamily="2" charset="0"/>
              </a:rPr>
              <a:t> </a:t>
            </a:r>
            <a:r>
              <a:rPr lang="es-ES" sz="2800" dirty="0" err="1">
                <a:latin typeface="Montserrat" panose="02000505000000020004" pitchFamily="2" charset="0"/>
              </a:rPr>
              <a:t>satisfactory</a:t>
            </a:r>
            <a:r>
              <a:rPr lang="es-ES" sz="2800" dirty="0">
                <a:latin typeface="Montserrat" panose="02000505000000020004" pitchFamily="2" charset="0"/>
              </a:rPr>
              <a:t> performance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dirty="0">
                <a:latin typeface="Montserrat" panose="02000505000000020004" pitchFamily="2" charset="0"/>
              </a:rPr>
              <a:t>Performance </a:t>
            </a:r>
            <a:r>
              <a:rPr lang="es-ES" sz="2800" dirty="0" err="1">
                <a:latin typeface="Montserrat" panose="02000505000000020004" pitchFamily="2" charset="0"/>
              </a:rPr>
              <a:t>was</a:t>
            </a:r>
            <a:r>
              <a:rPr lang="es-ES" sz="2800" dirty="0">
                <a:latin typeface="Montserrat" panose="02000505000000020004" pitchFamily="2" charset="0"/>
              </a:rPr>
              <a:t> </a:t>
            </a:r>
            <a:r>
              <a:rPr lang="es-ES" sz="2800" dirty="0" err="1">
                <a:latin typeface="Montserrat" panose="02000505000000020004" pitchFamily="2" charset="0"/>
              </a:rPr>
              <a:t>improved</a:t>
            </a:r>
            <a:r>
              <a:rPr lang="es-ES" sz="2800" dirty="0">
                <a:latin typeface="Montserrat" panose="02000505000000020004" pitchFamily="2" charset="0"/>
              </a:rPr>
              <a:t> in </a:t>
            </a:r>
            <a:r>
              <a:rPr lang="es-ES" sz="2800" dirty="0" err="1">
                <a:latin typeface="Montserrat" panose="02000505000000020004" pitchFamily="2" charset="0"/>
              </a:rPr>
              <a:t>Episode</a:t>
            </a:r>
            <a:r>
              <a:rPr lang="es-ES" sz="2800" dirty="0">
                <a:latin typeface="Montserrat" panose="02000505000000020004" pitchFamily="2" charset="0"/>
              </a:rPr>
              <a:t> 2, ≅</a:t>
            </a:r>
            <a:r>
              <a:rPr lang="es-ES" sz="2400" i="1" dirty="0">
                <a:latin typeface="Montserrat" panose="02000505000000020004" pitchFamily="2" charset="0"/>
              </a:rPr>
              <a:t> -84%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2800" dirty="0">
                <a:latin typeface="Montserrat" panose="02000505000000020004" pitchFamily="2" charset="0"/>
              </a:rPr>
              <a:t>(C2) </a:t>
            </a:r>
            <a:r>
              <a:rPr lang="es-ES" sz="2800" dirty="0" err="1">
                <a:latin typeface="Montserrat" panose="02000505000000020004" pitchFamily="2" charset="0"/>
              </a:rPr>
              <a:t>achieved</a:t>
            </a:r>
            <a:r>
              <a:rPr lang="es-ES" sz="2800" dirty="0">
                <a:latin typeface="Montserrat" panose="02000505000000020004" pitchFamily="2" charset="0"/>
              </a:rPr>
              <a:t> </a:t>
            </a:r>
            <a:r>
              <a:rPr lang="es-ES" sz="2800" dirty="0" err="1">
                <a:latin typeface="Montserrat" panose="02000505000000020004" pitchFamily="2" charset="0"/>
              </a:rPr>
              <a:t>slightly</a:t>
            </a:r>
            <a:r>
              <a:rPr lang="es-ES" sz="2800" dirty="0">
                <a:latin typeface="Montserrat" panose="02000505000000020004" pitchFamily="2" charset="0"/>
              </a:rPr>
              <a:t> </a:t>
            </a:r>
            <a:r>
              <a:rPr lang="es-ES" sz="2800" dirty="0" err="1">
                <a:latin typeface="Montserrat" panose="02000505000000020004" pitchFamily="2" charset="0"/>
              </a:rPr>
              <a:t>higher</a:t>
            </a:r>
            <a:r>
              <a:rPr lang="es-ES" sz="2800" dirty="0">
                <a:latin typeface="Montserrat" panose="02000505000000020004" pitchFamily="2" charset="0"/>
              </a:rPr>
              <a:t> performance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Montserrat" panose="02000505000000020004" pitchFamily="2" charset="0"/>
              </a:rPr>
              <a:t>However, it neglected costs that come from saturation</a:t>
            </a:r>
            <a:endParaRPr lang="es-ES" sz="2400" dirty="0">
              <a:latin typeface="Montserrat" panose="02000505000000020004" pitchFamily="2" charset="0"/>
            </a:endParaRPr>
          </a:p>
        </p:txBody>
      </p:sp>
      <p:sp>
        <p:nvSpPr>
          <p:cNvPr id="105" name="CuadroTexto 5 12 1 3 1">
            <a:extLst>
              <a:ext uri="{FF2B5EF4-FFF2-40B4-BE49-F238E27FC236}">
                <a16:creationId xmlns:a16="http://schemas.microsoft.com/office/drawing/2014/main" id="{69F756A6-3130-D17E-9E9B-C5F152896364}"/>
              </a:ext>
            </a:extLst>
          </p:cNvPr>
          <p:cNvSpPr txBox="1"/>
          <p:nvPr/>
        </p:nvSpPr>
        <p:spPr>
          <a:xfrm>
            <a:off x="27564677" y="24357363"/>
            <a:ext cx="4150085" cy="3251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accent1"/>
                </a:solidFill>
                <a:latin typeface="Montserrat" panose="02000505000000020004" pitchFamily="2" charset="0"/>
              </a:rPr>
              <a:t>Input Saturation</a:t>
            </a:r>
            <a:endParaRPr lang="en-US" sz="2800" dirty="0">
              <a:solidFill>
                <a:schemeClr val="accent1"/>
              </a:solidFill>
              <a:latin typeface="Montserrat" panose="02000505000000020004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2000505000000020004" pitchFamily="2" charset="0"/>
              </a:rPr>
              <a:t>Input saturation of (C1) was suppressed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2000505000000020004" pitchFamily="2" charset="0"/>
              </a:rPr>
              <a:t>(C2) exceeded the input limit,</a:t>
            </a:r>
            <a:r>
              <a:rPr lang="en-US" sz="2400" i="1" dirty="0">
                <a:latin typeface="Montserrat" panose="02000505000000020004" pitchFamily="2" charset="0"/>
              </a:rPr>
              <a:t> </a:t>
            </a:r>
            <a:r>
              <a:rPr lang="es-ES" sz="2400" i="1" dirty="0">
                <a:latin typeface="Montserrat" panose="02000505000000020004" pitchFamily="2" charset="0"/>
              </a:rPr>
              <a:t>≅</a:t>
            </a:r>
            <a:r>
              <a:rPr lang="en-US" sz="2400" i="1" dirty="0">
                <a:latin typeface="Montserrat" panose="02000505000000020004" pitchFamily="2" charset="0"/>
              </a:rPr>
              <a:t> +85%</a:t>
            </a:r>
            <a:endParaRPr lang="es-ES" sz="2400" i="1" dirty="0">
              <a:latin typeface="Montserrat" panose="02000505000000020004" pitchFamily="2" charset="0"/>
            </a:endParaRPr>
          </a:p>
        </p:txBody>
      </p: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BF43F100-42AB-FEE7-20E1-8CB3454AC926}"/>
              </a:ext>
            </a:extLst>
          </p:cNvPr>
          <p:cNvGrpSpPr/>
          <p:nvPr/>
        </p:nvGrpSpPr>
        <p:grpSpPr>
          <a:xfrm>
            <a:off x="16687138" y="14177665"/>
            <a:ext cx="9822523" cy="1569660"/>
            <a:chOff x="16939080" y="13790446"/>
            <a:chExt cx="9822523" cy="1569660"/>
          </a:xfrm>
        </p:grpSpPr>
        <p:sp>
          <p:nvSpPr>
            <p:cNvPr id="110" name="CuadroTexto 5 12 1 4">
              <a:extLst>
                <a:ext uri="{FF2B5EF4-FFF2-40B4-BE49-F238E27FC236}">
                  <a16:creationId xmlns:a16="http://schemas.microsoft.com/office/drawing/2014/main" id="{C40FE8DE-27FC-78FD-62F7-9B7E16AE9AAE}"/>
                </a:ext>
              </a:extLst>
            </p:cNvPr>
            <p:cNvSpPr txBox="1"/>
            <p:nvPr/>
          </p:nvSpPr>
          <p:spPr>
            <a:xfrm>
              <a:off x="16939080" y="13790446"/>
              <a:ext cx="9822523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3200" dirty="0">
                  <a:latin typeface="Montserrat" panose="02000505000000020004" pitchFamily="2" charset="0"/>
                </a:rPr>
                <a:t>        (C1) CONAC with input constraint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3200" dirty="0">
                  <a:latin typeface="Montserrat" panose="02000505000000020004" pitchFamily="2" charset="0"/>
                </a:rPr>
                <a:t>        (C2) CONAC without input constraint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3200" dirty="0">
                  <a:latin typeface="Montserrat" panose="02000505000000020004" pitchFamily="2" charset="0"/>
                </a:rPr>
                <a:t>        Reference current</a:t>
              </a:r>
              <a:endParaRPr lang="es-ES" sz="3200" dirty="0">
                <a:latin typeface="Montserrat Light" panose="00000400000000000000" pitchFamily="2" charset="0"/>
              </a:endParaRPr>
            </a:p>
          </p:txBody>
        </p: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5AD07B65-8B02-0089-FAA6-5C56348BB567}"/>
                </a:ext>
              </a:extLst>
            </p:cNvPr>
            <p:cNvCxnSpPr/>
            <p:nvPr/>
          </p:nvCxnSpPr>
          <p:spPr>
            <a:xfrm>
              <a:off x="17290991" y="14046836"/>
              <a:ext cx="763064" cy="0"/>
            </a:xfrm>
            <a:prstGeom prst="line">
              <a:avLst/>
            </a:prstGeom>
            <a:ln w="76200">
              <a:solidFill>
                <a:srgbClr val="0432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6BEC3CE3-50DE-BA18-752E-BB42BE574420}"/>
                </a:ext>
              </a:extLst>
            </p:cNvPr>
            <p:cNvCxnSpPr/>
            <p:nvPr/>
          </p:nvCxnSpPr>
          <p:spPr>
            <a:xfrm>
              <a:off x="17290991" y="14544796"/>
              <a:ext cx="763064" cy="0"/>
            </a:xfrm>
            <a:prstGeom prst="line">
              <a:avLst/>
            </a:prstGeom>
            <a:ln w="76200">
              <a:solidFill>
                <a:srgbClr val="00FD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56626EAA-B7B1-6DB1-9945-02759240A4AF}"/>
                </a:ext>
              </a:extLst>
            </p:cNvPr>
            <p:cNvCxnSpPr/>
            <p:nvPr/>
          </p:nvCxnSpPr>
          <p:spPr>
            <a:xfrm>
              <a:off x="17291090" y="15001995"/>
              <a:ext cx="763064" cy="0"/>
            </a:xfrm>
            <a:prstGeom prst="line">
              <a:avLst/>
            </a:prstGeom>
            <a:ln w="76200">
              <a:solidFill>
                <a:srgbClr val="FF0000"/>
              </a:solidFill>
              <a:prstDash val="sys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8421C1E9-3C3A-040C-81D3-E169F1EFE1CA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2438" y="30994523"/>
            <a:ext cx="4929865" cy="84595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CuadroTexto 5 3 3 2">
                <a:extLst>
                  <a:ext uri="{FF2B5EF4-FFF2-40B4-BE49-F238E27FC236}">
                    <a16:creationId xmlns:a16="http://schemas.microsoft.com/office/drawing/2014/main" id="{201436BF-C57A-DBE0-E80A-3169550B4B12}"/>
                  </a:ext>
                </a:extLst>
              </p:cNvPr>
              <p:cNvSpPr txBox="1"/>
              <p:nvPr/>
            </p:nvSpPr>
            <p:spPr>
              <a:xfrm>
                <a:off x="18897590" y="33615144"/>
                <a:ext cx="11457674" cy="6658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en-US" sz="2800" b="1" dirty="0">
                    <a:solidFill>
                      <a:srgbClr val="0069A3"/>
                    </a:solidFill>
                    <a:latin typeface="Montserrat" panose="02000505000000020004" pitchFamily="2" charset="0"/>
                  </a:rPr>
                  <a:t>Table 1. Quantitative comparison of performances’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smtClean="0">
                            <a:solidFill>
                              <a:srgbClr val="0069A3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 i="1" smtClean="0">
                            <a:solidFill>
                              <a:srgbClr val="0069A3"/>
                            </a:solidFill>
                            <a:latin typeface="Cambria Math" panose="02040503050406030204" pitchFamily="18" charset="0"/>
                          </a:rPr>
                          <m:t>𝑳</m:t>
                        </m:r>
                      </m:e>
                      <m:sub>
                        <m:r>
                          <a:rPr lang="en-US" sz="2800" b="1" i="1" smtClean="0">
                            <a:solidFill>
                              <a:srgbClr val="0069A3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s-ES" sz="2800" dirty="0">
                    <a:latin typeface="Montserrat Light" panose="00000400000000000000" pitchFamily="2" charset="0"/>
                  </a:rPr>
                  <a:t> </a:t>
                </a:r>
                <a:r>
                  <a:rPr lang="en-US" sz="2800" b="1" dirty="0">
                    <a:solidFill>
                      <a:srgbClr val="0069A3"/>
                    </a:solidFill>
                    <a:latin typeface="Montserrat" panose="02000505000000020004" pitchFamily="2" charset="0"/>
                  </a:rPr>
                  <a:t>norm</a:t>
                </a:r>
                <a:endParaRPr lang="es-ES" sz="2800" dirty="0">
                  <a:latin typeface="Montserrat Light" panose="00000400000000000000" pitchFamily="2" charset="0"/>
                </a:endParaRPr>
              </a:p>
            </p:txBody>
          </p:sp>
        </mc:Choice>
        <mc:Fallback xmlns="">
          <p:sp>
            <p:nvSpPr>
              <p:cNvPr id="122" name="CuadroTexto 5 3 3 2">
                <a:extLst>
                  <a:ext uri="{FF2B5EF4-FFF2-40B4-BE49-F238E27FC236}">
                    <a16:creationId xmlns:a16="http://schemas.microsoft.com/office/drawing/2014/main" id="{201436BF-C57A-DBE0-E80A-3169550B4B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97590" y="33615144"/>
                <a:ext cx="11457674" cy="665823"/>
              </a:xfrm>
              <a:prstGeom prst="rect">
                <a:avLst/>
              </a:prstGeom>
              <a:blipFill>
                <a:blip r:embed="rId28"/>
                <a:stretch>
                  <a:fillRect b="-24074"/>
                </a:stretch>
              </a:blipFill>
            </p:spPr>
            <p:txBody>
              <a:bodyPr/>
              <a:lstStyle/>
              <a:p>
                <a:r>
                  <a:rPr lang="en-K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" name="CuadroTexto 5 8 2 1">
            <a:extLst>
              <a:ext uri="{FF2B5EF4-FFF2-40B4-BE49-F238E27FC236}">
                <a16:creationId xmlns:a16="http://schemas.microsoft.com/office/drawing/2014/main" id="{58C812FA-7B16-C31D-D5BE-E7EDC4CB3311}"/>
              </a:ext>
            </a:extLst>
          </p:cNvPr>
          <p:cNvSpPr txBox="1"/>
          <p:nvPr/>
        </p:nvSpPr>
        <p:spPr>
          <a:xfrm>
            <a:off x="1006356" y="14002874"/>
            <a:ext cx="11215787" cy="911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rgbClr val="0069A3"/>
                </a:solidFill>
                <a:latin typeface="Montserrat" panose="02000505000000020004" pitchFamily="2" charset="0"/>
              </a:rPr>
              <a:t>SM drive modeling</a:t>
            </a:r>
            <a:endParaRPr lang="es-ES" sz="4000" dirty="0">
              <a:latin typeface="Montserrat Light" panose="00000400000000000000" pitchFamily="2" charset="0"/>
            </a:endParaRPr>
          </a:p>
        </p:txBody>
      </p:sp>
      <p:sp>
        <p:nvSpPr>
          <p:cNvPr id="124" name="CuadroTexto 5 4 2 2">
            <a:extLst>
              <a:ext uri="{FF2B5EF4-FFF2-40B4-BE49-F238E27FC236}">
                <a16:creationId xmlns:a16="http://schemas.microsoft.com/office/drawing/2014/main" id="{1AE4957B-618F-1EC5-274D-29BE4415F9F9}"/>
              </a:ext>
            </a:extLst>
          </p:cNvPr>
          <p:cNvSpPr txBox="1"/>
          <p:nvPr/>
        </p:nvSpPr>
        <p:spPr>
          <a:xfrm>
            <a:off x="1031596" y="17606357"/>
            <a:ext cx="14407085" cy="4071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Montserrat" panose="02000505000000020004" pitchFamily="2" charset="0"/>
              </a:rPr>
              <a:t>Design</a:t>
            </a:r>
            <a:r>
              <a:rPr lang="en-US" sz="3200" dirty="0">
                <a:solidFill>
                  <a:srgbClr val="DB874F"/>
                </a:solidFill>
                <a:latin typeface="Montserrat" panose="02000505000000020004" pitchFamily="2" charset="0"/>
              </a:rPr>
              <a:t> current tracking controller</a:t>
            </a:r>
            <a:endParaRPr lang="en-US" sz="3200" i="1" dirty="0">
              <a:latin typeface="Montserrat" panose="02000505000000020004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Montserrat" panose="02000505000000020004" pitchFamily="2" charset="0"/>
              </a:rPr>
              <a:t>Utilize </a:t>
            </a:r>
            <a:r>
              <a:rPr lang="en-US" sz="3200" dirty="0">
                <a:solidFill>
                  <a:srgbClr val="DB874F"/>
                </a:solidFill>
                <a:latin typeface="Montserrat" panose="02000505000000020004" pitchFamily="2" charset="0"/>
              </a:rPr>
              <a:t>ANN to approximate</a:t>
            </a:r>
            <a:r>
              <a:rPr lang="en-US" sz="3200" dirty="0">
                <a:latin typeface="Montserrat" panose="02000505000000020004" pitchFamily="2" charset="0"/>
              </a:rPr>
              <a:t> unknown ideal input </a:t>
            </a:r>
            <a:r>
              <a:rPr lang="en-US" sz="2400" i="1" dirty="0">
                <a:latin typeface="Montserrat" panose="02000505000000020004" pitchFamily="2" charset="0"/>
              </a:rPr>
              <a:t>(Motivation 1)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4800" dirty="0">
              <a:latin typeface="Montserrat" panose="02000505000000020004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latin typeface="Montserrat" panose="02000505000000020004" pitchFamily="2" charset="0"/>
              </a:rPr>
              <a:t>Derive </a:t>
            </a:r>
            <a:r>
              <a:rPr lang="en-US" sz="3200" dirty="0">
                <a:solidFill>
                  <a:srgbClr val="DB874F"/>
                </a:solidFill>
                <a:latin typeface="Montserrat" panose="02000505000000020004" pitchFamily="2" charset="0"/>
              </a:rPr>
              <a:t>ANN weight adaptation law</a:t>
            </a:r>
            <a:r>
              <a:rPr lang="en-US" sz="3200" dirty="0">
                <a:latin typeface="Montserrat" panose="02000505000000020004" pitchFamily="2" charset="0"/>
              </a:rPr>
              <a:t> ensuring stability (weight and error boundedness) and preventing input saturation</a:t>
            </a:r>
            <a:r>
              <a:rPr lang="en-US" sz="3200" i="1" dirty="0">
                <a:latin typeface="Montserrat" panose="02000505000000020004" pitchFamily="2" charset="0"/>
              </a:rPr>
              <a:t> </a:t>
            </a:r>
            <a:r>
              <a:rPr lang="en-US" sz="2400" i="1" dirty="0">
                <a:latin typeface="Montserrat" panose="02000505000000020004" pitchFamily="2" charset="0"/>
              </a:rPr>
              <a:t>(Motivation 2)</a:t>
            </a:r>
            <a:endParaRPr lang="en-US" sz="3200" i="1" dirty="0">
              <a:latin typeface="Montserrat" panose="02000505000000020004" pitchFamily="2" charset="0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4CFF1581-FC4A-9B88-4E5B-8A437F9B44FC}"/>
              </a:ext>
            </a:extLst>
          </p:cNvPr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6056" y="32925625"/>
            <a:ext cx="4982143" cy="865032"/>
          </a:xfrm>
          <a:prstGeom prst="rect">
            <a:avLst/>
          </a:prstGeom>
        </p:spPr>
      </p:pic>
      <p:sp>
        <p:nvSpPr>
          <p:cNvPr id="34" name="CuadroTexto 5 3 4 2">
            <a:extLst>
              <a:ext uri="{FF2B5EF4-FFF2-40B4-BE49-F238E27FC236}">
                <a16:creationId xmlns:a16="http://schemas.microsoft.com/office/drawing/2014/main" id="{2C0E232F-0C7A-927C-87EE-15FE5075FC92}"/>
              </a:ext>
            </a:extLst>
          </p:cNvPr>
          <p:cNvSpPr txBox="1"/>
          <p:nvPr/>
        </p:nvSpPr>
        <p:spPr>
          <a:xfrm>
            <a:off x="17530170" y="32478153"/>
            <a:ext cx="9795631" cy="665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solidFill>
                  <a:srgbClr val="0069A3"/>
                </a:solidFill>
                <a:latin typeface="Montserrat" panose="02000505000000020004" pitchFamily="2" charset="0"/>
              </a:rPr>
              <a:t>Fig 3. Lagrange multipliers in logarithmic scale</a:t>
            </a:r>
            <a:endParaRPr lang="es-ES" sz="2800" dirty="0">
              <a:latin typeface="Montserrat Light" panose="00000400000000000000" pitchFamily="2" charset="0"/>
            </a:endParaRPr>
          </a:p>
        </p:txBody>
      </p:sp>
      <p:sp>
        <p:nvSpPr>
          <p:cNvPr id="39" name="CuadroTexto 5 12 1 3 2">
            <a:extLst>
              <a:ext uri="{FF2B5EF4-FFF2-40B4-BE49-F238E27FC236}">
                <a16:creationId xmlns:a16="http://schemas.microsoft.com/office/drawing/2014/main" id="{CDFD36C3-1C3C-53EF-428F-17D14BB548E4}"/>
              </a:ext>
            </a:extLst>
          </p:cNvPr>
          <p:cNvSpPr txBox="1"/>
          <p:nvPr/>
        </p:nvSpPr>
        <p:spPr>
          <a:xfrm>
            <a:off x="27400475" y="28985075"/>
            <a:ext cx="4480169" cy="2604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chemeClr val="accent1"/>
                </a:solidFill>
                <a:latin typeface="Montserrat" panose="02000505000000020004" pitchFamily="2" charset="0"/>
              </a:rPr>
              <a:t>Constraint Handling</a:t>
            </a:r>
            <a:endParaRPr lang="en-US" sz="2800" dirty="0">
              <a:solidFill>
                <a:schemeClr val="accent1"/>
              </a:solidFill>
              <a:latin typeface="Montserrat" panose="02000505000000020004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2000505000000020004" pitchFamily="2" charset="0"/>
              </a:rPr>
              <a:t>Lagrange multipliers increase to adjust adaptation, see eq. (3)</a:t>
            </a:r>
            <a:endParaRPr lang="es-ES" sz="2800" dirty="0">
              <a:latin typeface="Montserrat Light" panose="00000400000000000000" pitchFamily="2" charset="0"/>
            </a:endParaRPr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AD6153A2-A2C9-CFFB-1681-E99DE6649302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l="8191" b="11285"/>
          <a:stretch>
            <a:fillRect/>
          </a:stretch>
        </p:blipFill>
        <p:spPr>
          <a:xfrm>
            <a:off x="10103317" y="36299853"/>
            <a:ext cx="5098675" cy="3262389"/>
          </a:xfrm>
          <a:prstGeom prst="rect">
            <a:avLst/>
          </a:prstGeom>
          <a:ln w="57150">
            <a:solidFill>
              <a:schemeClr val="tx1"/>
            </a:solidFill>
          </a:ln>
        </p:spPr>
      </p:pic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7931CA70-4CA2-3545-B023-B6D8F91D528B}"/>
              </a:ext>
            </a:extLst>
          </p:cNvPr>
          <p:cNvCxnSpPr>
            <a:cxnSpLocks/>
          </p:cNvCxnSpPr>
          <p:nvPr/>
        </p:nvCxnSpPr>
        <p:spPr>
          <a:xfrm>
            <a:off x="10383821" y="35592420"/>
            <a:ext cx="531940" cy="1328772"/>
          </a:xfrm>
          <a:prstGeom prst="straightConnector1">
            <a:avLst/>
          </a:prstGeom>
          <a:ln w="76200" cmpd="thinThick">
            <a:solidFill>
              <a:schemeClr val="accent3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CuadroTexto 5 4 4 2 1">
            <a:extLst>
              <a:ext uri="{FF2B5EF4-FFF2-40B4-BE49-F238E27FC236}">
                <a16:creationId xmlns:a16="http://schemas.microsoft.com/office/drawing/2014/main" id="{27AF413A-4E86-FDC1-FD4E-34838EAF8E33}"/>
              </a:ext>
            </a:extLst>
          </p:cNvPr>
          <p:cNvSpPr txBox="1"/>
          <p:nvPr/>
        </p:nvSpPr>
        <p:spPr>
          <a:xfrm>
            <a:off x="10785166" y="35319992"/>
            <a:ext cx="46837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3"/>
                </a:solidFill>
                <a:latin typeface="Montserrat" panose="02000505000000020004" pitchFamily="2" charset="0"/>
              </a:rPr>
              <a:t>Lagrange multipliers adjust adaption direction</a:t>
            </a:r>
            <a:endParaRPr lang="es-ES" sz="2800" dirty="0">
              <a:solidFill>
                <a:schemeClr val="accent3"/>
              </a:solidFill>
              <a:latin typeface="Montserrat Light" panose="00000400000000000000" pitchFamily="2" charset="0"/>
            </a:endParaRPr>
          </a:p>
        </p:txBody>
      </p:sp>
      <p:pic>
        <p:nvPicPr>
          <p:cNvPr id="108" name="Picture 107" descr="A blue and black logo&#10;&#10;AI-generated content may be incorrect.">
            <a:extLst>
              <a:ext uri="{FF2B5EF4-FFF2-40B4-BE49-F238E27FC236}">
                <a16:creationId xmlns:a16="http://schemas.microsoft.com/office/drawing/2014/main" id="{5F5823A0-2202-2382-A452-B641BF31CB7D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75091" y="4850087"/>
            <a:ext cx="3728661" cy="1035739"/>
          </a:xfrm>
          <a:prstGeom prst="rect">
            <a:avLst/>
          </a:prstGeom>
        </p:spPr>
      </p:pic>
      <p:pic>
        <p:nvPicPr>
          <p:cNvPr id="109" name="Picture 108">
            <a:extLst>
              <a:ext uri="{FF2B5EF4-FFF2-40B4-BE49-F238E27FC236}">
                <a16:creationId xmlns:a16="http://schemas.microsoft.com/office/drawing/2014/main" id="{B6D991C0-62E3-FB6D-77A1-6AB8DC58DA5B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28950660" y="4818736"/>
            <a:ext cx="2477385" cy="934096"/>
          </a:xfrm>
          <a:prstGeom prst="rect">
            <a:avLst/>
          </a:prstGeom>
        </p:spPr>
      </p:pic>
      <p:pic>
        <p:nvPicPr>
          <p:cNvPr id="152" name="Picture 151">
            <a:extLst>
              <a:ext uri="{FF2B5EF4-FFF2-40B4-BE49-F238E27FC236}">
                <a16:creationId xmlns:a16="http://schemas.microsoft.com/office/drawing/2014/main" id="{4D66C016-F332-8AAF-359C-145D4A783EA1}"/>
              </a:ext>
            </a:extLst>
          </p:cNvPr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1548" y="41084608"/>
            <a:ext cx="8591106" cy="751111"/>
          </a:xfrm>
          <a:prstGeom prst="rect">
            <a:avLst/>
          </a:prstGeom>
        </p:spPr>
      </p:pic>
      <p:sp>
        <p:nvSpPr>
          <p:cNvPr id="29" name="CuadroTexto 5 4 4 2 2">
            <a:extLst>
              <a:ext uri="{FF2B5EF4-FFF2-40B4-BE49-F238E27FC236}">
                <a16:creationId xmlns:a16="http://schemas.microsoft.com/office/drawing/2014/main" id="{3FC30EAB-DD13-1AE3-C57B-E11F124405E7}"/>
              </a:ext>
            </a:extLst>
          </p:cNvPr>
          <p:cNvSpPr txBox="1"/>
          <p:nvPr/>
        </p:nvSpPr>
        <p:spPr>
          <a:xfrm>
            <a:off x="888252" y="15529878"/>
            <a:ext cx="3218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5"/>
                </a:solidFill>
                <a:latin typeface="Montserrat" panose="02000505000000020004" pitchFamily="2" charset="0"/>
              </a:rPr>
              <a:t>Saturation (VSI)</a:t>
            </a:r>
            <a:endParaRPr lang="es-ES" sz="2800" dirty="0">
              <a:solidFill>
                <a:schemeClr val="accent5"/>
              </a:solidFill>
              <a:latin typeface="Montserrat Light" panose="00000400000000000000" pitchFamily="2" charset="0"/>
            </a:endParaRPr>
          </a:p>
        </p:txBody>
      </p:sp>
      <p:sp>
        <p:nvSpPr>
          <p:cNvPr id="30" name="CuadroTexto 5 4 4 2 3 1">
            <a:extLst>
              <a:ext uri="{FF2B5EF4-FFF2-40B4-BE49-F238E27FC236}">
                <a16:creationId xmlns:a16="http://schemas.microsoft.com/office/drawing/2014/main" id="{8019E07F-8E2C-0FB4-18C7-2DA91CA911A9}"/>
              </a:ext>
            </a:extLst>
          </p:cNvPr>
          <p:cNvSpPr txBox="1"/>
          <p:nvPr/>
        </p:nvSpPr>
        <p:spPr>
          <a:xfrm>
            <a:off x="10926348" y="16193706"/>
            <a:ext cx="3218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  <a:latin typeface="Montserrat" panose="02000505000000020004" pitchFamily="2" charset="0"/>
              </a:rPr>
              <a:t>Unknown terms</a:t>
            </a:r>
            <a:endParaRPr lang="es-ES" sz="2800" dirty="0">
              <a:solidFill>
                <a:srgbClr val="C00000"/>
              </a:solidFill>
              <a:latin typeface="Montserrat Light" panose="00000400000000000000" pitchFamily="2" charset="0"/>
            </a:endParaRPr>
          </a:p>
        </p:txBody>
      </p:sp>
      <p:sp>
        <p:nvSpPr>
          <p:cNvPr id="38" name="CuadroTexto 5 4 4 2 4">
            <a:extLst>
              <a:ext uri="{FF2B5EF4-FFF2-40B4-BE49-F238E27FC236}">
                <a16:creationId xmlns:a16="http://schemas.microsoft.com/office/drawing/2014/main" id="{7CC7D584-D0F7-842A-1F9D-2E151D0582C3}"/>
              </a:ext>
            </a:extLst>
          </p:cNvPr>
          <p:cNvSpPr txBox="1"/>
          <p:nvPr/>
        </p:nvSpPr>
        <p:spPr>
          <a:xfrm>
            <a:off x="3153724" y="16112006"/>
            <a:ext cx="4262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3"/>
                </a:solidFill>
                <a:latin typeface="Montserrat" panose="02000505000000020004" pitchFamily="2" charset="0"/>
              </a:rPr>
              <a:t>Control input (voltage)</a:t>
            </a:r>
            <a:endParaRPr lang="es-ES" sz="2800" dirty="0">
              <a:solidFill>
                <a:schemeClr val="accent3"/>
              </a:solidFill>
              <a:latin typeface="Montserrat Light" panose="00000400000000000000" pitchFamily="2" charset="0"/>
            </a:endParaRPr>
          </a:p>
        </p:txBody>
      </p:sp>
      <p:sp>
        <p:nvSpPr>
          <p:cNvPr id="41" name="CuadroTexto 5 4 4 2 5">
            <a:extLst>
              <a:ext uri="{FF2B5EF4-FFF2-40B4-BE49-F238E27FC236}">
                <a16:creationId xmlns:a16="http://schemas.microsoft.com/office/drawing/2014/main" id="{1BDB86BF-7D85-911B-553C-DCD01CD9E1B6}"/>
              </a:ext>
            </a:extLst>
          </p:cNvPr>
          <p:cNvSpPr txBox="1"/>
          <p:nvPr/>
        </p:nvSpPr>
        <p:spPr>
          <a:xfrm>
            <a:off x="7543169" y="16167628"/>
            <a:ext cx="3218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4"/>
                </a:solidFill>
                <a:latin typeface="Montserrat" panose="02000505000000020004" pitchFamily="2" charset="0"/>
              </a:rPr>
              <a:t>State (current)</a:t>
            </a:r>
            <a:endParaRPr lang="es-ES" sz="2800" dirty="0">
              <a:solidFill>
                <a:schemeClr val="accent4"/>
              </a:solidFill>
              <a:latin typeface="Montserrat Light" panose="00000400000000000000" pitchFamily="2" charset="0"/>
            </a:endParaRPr>
          </a:p>
        </p:txBody>
      </p:sp>
      <p:sp>
        <p:nvSpPr>
          <p:cNvPr id="2" name="CuadroTexto 5 8 2 2">
            <a:extLst>
              <a:ext uri="{FF2B5EF4-FFF2-40B4-BE49-F238E27FC236}">
                <a16:creationId xmlns:a16="http://schemas.microsoft.com/office/drawing/2014/main" id="{FDE0B2F2-E3A4-2A93-3741-8E73DB0925E4}"/>
              </a:ext>
            </a:extLst>
          </p:cNvPr>
          <p:cNvSpPr txBox="1"/>
          <p:nvPr/>
        </p:nvSpPr>
        <p:spPr>
          <a:xfrm>
            <a:off x="1031596" y="16789748"/>
            <a:ext cx="11215787" cy="9115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rgbClr val="0069A3"/>
                </a:solidFill>
                <a:latin typeface="Montserrat" panose="02000505000000020004" pitchFamily="2" charset="0"/>
              </a:rPr>
              <a:t>Controller design objectives</a:t>
            </a:r>
            <a:endParaRPr lang="es-ES" sz="4000" dirty="0">
              <a:latin typeface="Montserrat Light" panose="00000400000000000000" pitchFamily="2" charset="0"/>
            </a:endParaRPr>
          </a:p>
        </p:txBody>
      </p:sp>
      <p:pic>
        <p:nvPicPr>
          <p:cNvPr id="118" name="Picture 117">
            <a:extLst>
              <a:ext uri="{FF2B5EF4-FFF2-40B4-BE49-F238E27FC236}">
                <a16:creationId xmlns:a16="http://schemas.microsoft.com/office/drawing/2014/main" id="{E6F26D59-2B7D-F845-5A0D-6FBA1ABE3D08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7513" y="19122274"/>
            <a:ext cx="11444436" cy="800000"/>
          </a:xfrm>
          <a:prstGeom prst="rect">
            <a:avLst/>
          </a:prstGeom>
        </p:spPr>
      </p:pic>
      <p:sp>
        <p:nvSpPr>
          <p:cNvPr id="91" name="CuadroTexto 5 4 4 2 3 2 1">
            <a:extLst>
              <a:ext uri="{FF2B5EF4-FFF2-40B4-BE49-F238E27FC236}">
                <a16:creationId xmlns:a16="http://schemas.microsoft.com/office/drawing/2014/main" id="{E3040F65-4433-A841-A4C8-56A5E499EBC4}"/>
              </a:ext>
            </a:extLst>
          </p:cNvPr>
          <p:cNvSpPr txBox="1"/>
          <p:nvPr/>
        </p:nvSpPr>
        <p:spPr>
          <a:xfrm>
            <a:off x="6307849" y="14714897"/>
            <a:ext cx="3218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Montserrat" panose="02000505000000020004" pitchFamily="2" charset="0"/>
              </a:rPr>
              <a:t>Resistances</a:t>
            </a:r>
            <a:endParaRPr lang="es-ES" sz="2400" dirty="0">
              <a:solidFill>
                <a:srgbClr val="C00000"/>
              </a:solidFill>
              <a:latin typeface="Montserrat Light" panose="00000400000000000000" pitchFamily="2" charset="0"/>
            </a:endParaRPr>
          </a:p>
        </p:txBody>
      </p:sp>
      <p:sp>
        <p:nvSpPr>
          <p:cNvPr id="93" name="CuadroTexto 5 4 4 2 3 3">
            <a:extLst>
              <a:ext uri="{FF2B5EF4-FFF2-40B4-BE49-F238E27FC236}">
                <a16:creationId xmlns:a16="http://schemas.microsoft.com/office/drawing/2014/main" id="{9DDF8738-53D8-500F-A3F2-50DBCA750FDE}"/>
              </a:ext>
            </a:extLst>
          </p:cNvPr>
          <p:cNvSpPr txBox="1"/>
          <p:nvPr/>
        </p:nvSpPr>
        <p:spPr>
          <a:xfrm>
            <a:off x="9830447" y="14696192"/>
            <a:ext cx="32182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Montserrat" panose="02000505000000020004" pitchFamily="2" charset="0"/>
              </a:rPr>
              <a:t>Flux linkages</a:t>
            </a:r>
            <a:endParaRPr lang="es-ES" sz="2400" dirty="0">
              <a:solidFill>
                <a:srgbClr val="C00000"/>
              </a:solidFill>
              <a:latin typeface="Montserrat Light" panose="00000400000000000000" pitchFamily="2" charset="0"/>
            </a:endParaRPr>
          </a:p>
        </p:txBody>
      </p:sp>
      <p:pic>
        <p:nvPicPr>
          <p:cNvPr id="129" name="Picture 128">
            <a:extLst>
              <a:ext uri="{FF2B5EF4-FFF2-40B4-BE49-F238E27FC236}">
                <a16:creationId xmlns:a16="http://schemas.microsoft.com/office/drawing/2014/main" id="{8D7CF5EA-E813-24A9-CB22-E42D5FDC2765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9734" y="21664498"/>
            <a:ext cx="6759993" cy="751111"/>
          </a:xfrm>
          <a:prstGeom prst="rect">
            <a:avLst/>
          </a:prstGeom>
        </p:spPr>
      </p:pic>
      <p:sp>
        <p:nvSpPr>
          <p:cNvPr id="130" name="Rounded Rectangle 129">
            <a:extLst>
              <a:ext uri="{FF2B5EF4-FFF2-40B4-BE49-F238E27FC236}">
                <a16:creationId xmlns:a16="http://schemas.microsoft.com/office/drawing/2014/main" id="{EEB67E35-CA1A-42EE-9069-55C0502FFF02}"/>
              </a:ext>
            </a:extLst>
          </p:cNvPr>
          <p:cNvSpPr/>
          <p:nvPr/>
        </p:nvSpPr>
        <p:spPr>
          <a:xfrm>
            <a:off x="6896939" y="15208816"/>
            <a:ext cx="1038598" cy="831222"/>
          </a:xfrm>
          <a:prstGeom prst="roundRect">
            <a:avLst>
              <a:gd name="adj" fmla="val 9292"/>
            </a:avLst>
          </a:prstGeom>
          <a:solidFill>
            <a:srgbClr val="C0000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31" name="Rounded Rectangle 130">
            <a:extLst>
              <a:ext uri="{FF2B5EF4-FFF2-40B4-BE49-F238E27FC236}">
                <a16:creationId xmlns:a16="http://schemas.microsoft.com/office/drawing/2014/main" id="{F1810FAC-86A6-1E14-82A8-087847814FE0}"/>
              </a:ext>
            </a:extLst>
          </p:cNvPr>
          <p:cNvSpPr/>
          <p:nvPr/>
        </p:nvSpPr>
        <p:spPr>
          <a:xfrm>
            <a:off x="10407777" y="15133503"/>
            <a:ext cx="1038598" cy="831222"/>
          </a:xfrm>
          <a:prstGeom prst="roundRect">
            <a:avLst>
              <a:gd name="adj" fmla="val 9292"/>
            </a:avLst>
          </a:prstGeom>
          <a:solidFill>
            <a:srgbClr val="C0000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32" name="Rounded Rectangle 131">
            <a:extLst>
              <a:ext uri="{FF2B5EF4-FFF2-40B4-BE49-F238E27FC236}">
                <a16:creationId xmlns:a16="http://schemas.microsoft.com/office/drawing/2014/main" id="{68F69071-E946-A156-CB1C-11A29EB77090}"/>
              </a:ext>
            </a:extLst>
          </p:cNvPr>
          <p:cNvSpPr/>
          <p:nvPr/>
        </p:nvSpPr>
        <p:spPr>
          <a:xfrm>
            <a:off x="12640323" y="15159885"/>
            <a:ext cx="1038598" cy="831222"/>
          </a:xfrm>
          <a:prstGeom prst="roundRect">
            <a:avLst>
              <a:gd name="adj" fmla="val 9292"/>
            </a:avLst>
          </a:prstGeom>
          <a:solidFill>
            <a:srgbClr val="C00000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33" name="Rounded Rectangle 132">
            <a:extLst>
              <a:ext uri="{FF2B5EF4-FFF2-40B4-BE49-F238E27FC236}">
                <a16:creationId xmlns:a16="http://schemas.microsoft.com/office/drawing/2014/main" id="{328DF64C-302B-332B-508E-61A29A746683}"/>
              </a:ext>
            </a:extLst>
          </p:cNvPr>
          <p:cNvSpPr/>
          <p:nvPr/>
        </p:nvSpPr>
        <p:spPr>
          <a:xfrm>
            <a:off x="4845757" y="15236144"/>
            <a:ext cx="1279557" cy="735280"/>
          </a:xfrm>
          <a:prstGeom prst="roundRect">
            <a:avLst>
              <a:gd name="adj" fmla="val 9292"/>
            </a:avLst>
          </a:prstGeom>
          <a:solidFill>
            <a:schemeClr val="accent6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34" name="Rounded Rectangle 133">
            <a:extLst>
              <a:ext uri="{FF2B5EF4-FFF2-40B4-BE49-F238E27FC236}">
                <a16:creationId xmlns:a16="http://schemas.microsoft.com/office/drawing/2014/main" id="{256C358E-767A-CF02-E0C4-145BB7CF3D6D}"/>
              </a:ext>
            </a:extLst>
          </p:cNvPr>
          <p:cNvSpPr/>
          <p:nvPr/>
        </p:nvSpPr>
        <p:spPr>
          <a:xfrm>
            <a:off x="8045333" y="15220110"/>
            <a:ext cx="887546" cy="803282"/>
          </a:xfrm>
          <a:prstGeom prst="roundRect">
            <a:avLst>
              <a:gd name="adj" fmla="val 9292"/>
            </a:avLst>
          </a:prstGeom>
          <a:solidFill>
            <a:srgbClr val="7CA2D6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35" name="Rounded Rectangle 134">
            <a:extLst>
              <a:ext uri="{FF2B5EF4-FFF2-40B4-BE49-F238E27FC236}">
                <a16:creationId xmlns:a16="http://schemas.microsoft.com/office/drawing/2014/main" id="{04536E81-B9D2-41AB-D020-BBDA784B1B44}"/>
              </a:ext>
            </a:extLst>
          </p:cNvPr>
          <p:cNvSpPr/>
          <p:nvPr/>
        </p:nvSpPr>
        <p:spPr>
          <a:xfrm>
            <a:off x="3905587" y="15211280"/>
            <a:ext cx="887546" cy="803282"/>
          </a:xfrm>
          <a:prstGeom prst="roundRect">
            <a:avLst>
              <a:gd name="adj" fmla="val 9292"/>
            </a:avLst>
          </a:prstGeom>
          <a:solidFill>
            <a:schemeClr val="accent5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pic>
        <p:nvPicPr>
          <p:cNvPr id="136" name="Picture 135">
            <a:extLst>
              <a:ext uri="{FF2B5EF4-FFF2-40B4-BE49-F238E27FC236}">
                <a16:creationId xmlns:a16="http://schemas.microsoft.com/office/drawing/2014/main" id="{5230D601-0154-67D7-2024-4196DA2451DD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1548" y="15227940"/>
            <a:ext cx="9604436" cy="777778"/>
          </a:xfrm>
          <a:prstGeom prst="rect">
            <a:avLst/>
          </a:prstGeom>
        </p:spPr>
      </p:pic>
      <p:sp>
        <p:nvSpPr>
          <p:cNvPr id="143" name="Rectangle 142">
            <a:extLst>
              <a:ext uri="{FF2B5EF4-FFF2-40B4-BE49-F238E27FC236}">
                <a16:creationId xmlns:a16="http://schemas.microsoft.com/office/drawing/2014/main" id="{7C34B71F-725E-3A9F-7C13-BC77E31BB1B2}"/>
              </a:ext>
            </a:extLst>
          </p:cNvPr>
          <p:cNvSpPr/>
          <p:nvPr/>
        </p:nvSpPr>
        <p:spPr>
          <a:xfrm>
            <a:off x="22762203" y="6413249"/>
            <a:ext cx="8962935" cy="6325497"/>
          </a:xfrm>
          <a:prstGeom prst="rect">
            <a:avLst/>
          </a:prstGeom>
          <a:noFill/>
          <a:ln w="889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BF71BAB7-F29E-657C-58EC-C9E695F034EB}"/>
              </a:ext>
            </a:extLst>
          </p:cNvPr>
          <p:cNvSpPr/>
          <p:nvPr/>
        </p:nvSpPr>
        <p:spPr>
          <a:xfrm>
            <a:off x="22762204" y="6413248"/>
            <a:ext cx="8952560" cy="1008000"/>
          </a:xfrm>
          <a:prstGeom prst="rect">
            <a:avLst/>
          </a:prstGeom>
          <a:solidFill>
            <a:srgbClr val="7CA2D6"/>
          </a:solidFill>
          <a:ln w="889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145" name="CuadroTexto 5 1 2">
            <a:extLst>
              <a:ext uri="{FF2B5EF4-FFF2-40B4-BE49-F238E27FC236}">
                <a16:creationId xmlns:a16="http://schemas.microsoft.com/office/drawing/2014/main" id="{E09DCC07-7FB7-337A-826A-45269C4BC5F3}"/>
              </a:ext>
            </a:extLst>
          </p:cNvPr>
          <p:cNvSpPr txBox="1"/>
          <p:nvPr/>
        </p:nvSpPr>
        <p:spPr>
          <a:xfrm>
            <a:off x="22923567" y="6309586"/>
            <a:ext cx="11215787" cy="993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4400" b="1" dirty="0">
                <a:solidFill>
                  <a:schemeClr val="bg1"/>
                </a:solidFill>
                <a:latin typeface="Montserrat" panose="02000505000000020004" pitchFamily="2" charset="0"/>
              </a:rPr>
              <a:t>Nomenclature</a:t>
            </a:r>
            <a:endParaRPr lang="es-ES" sz="4400" dirty="0">
              <a:solidFill>
                <a:schemeClr val="bg1"/>
              </a:solidFill>
              <a:latin typeface="Montserrat Light" panose="00000400000000000000" pitchFamily="2" charset="0"/>
            </a:endParaRPr>
          </a:p>
        </p:txBody>
      </p:sp>
      <p:pic>
        <p:nvPicPr>
          <p:cNvPr id="148" name="Picture 147">
            <a:extLst>
              <a:ext uri="{FF2B5EF4-FFF2-40B4-BE49-F238E27FC236}">
                <a16:creationId xmlns:a16="http://schemas.microsoft.com/office/drawing/2014/main" id="{B131169B-CF76-4862-4436-C1F3563BBFFC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3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24038" y="7854807"/>
            <a:ext cx="7672831" cy="4538674"/>
          </a:xfrm>
          <a:prstGeom prst="rect">
            <a:avLst/>
          </a:prstGeom>
        </p:spPr>
      </p:pic>
      <p:sp>
        <p:nvSpPr>
          <p:cNvPr id="149" name="CuadroTexto 5 4 4 2 3 2 2">
            <a:extLst>
              <a:ext uri="{FF2B5EF4-FFF2-40B4-BE49-F238E27FC236}">
                <a16:creationId xmlns:a16="http://schemas.microsoft.com/office/drawing/2014/main" id="{714E32B5-219F-CCF8-5BCA-B8FD1E0E43D2}"/>
              </a:ext>
            </a:extLst>
          </p:cNvPr>
          <p:cNvSpPr txBox="1"/>
          <p:nvPr/>
        </p:nvSpPr>
        <p:spPr>
          <a:xfrm>
            <a:off x="1552123" y="19797351"/>
            <a:ext cx="4883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Montserrat" panose="02000505000000020004" pitchFamily="2" charset="0"/>
              </a:rPr>
              <a:t>Ideal unknown control input</a:t>
            </a:r>
            <a:endParaRPr lang="es-ES" sz="2400" dirty="0">
              <a:solidFill>
                <a:srgbClr val="C00000"/>
              </a:solidFill>
              <a:latin typeface="Montserrat Light" panose="00000400000000000000" pitchFamily="2" charset="0"/>
            </a:endParaRPr>
          </a:p>
        </p:txBody>
      </p:sp>
      <p:sp>
        <p:nvSpPr>
          <p:cNvPr id="150" name="CuadroTexto 5 4 4 2 3 2 3">
            <a:extLst>
              <a:ext uri="{FF2B5EF4-FFF2-40B4-BE49-F238E27FC236}">
                <a16:creationId xmlns:a16="http://schemas.microsoft.com/office/drawing/2014/main" id="{9790138C-9031-29BB-434F-BBEE5EAF3150}"/>
              </a:ext>
            </a:extLst>
          </p:cNvPr>
          <p:cNvSpPr txBox="1"/>
          <p:nvPr/>
        </p:nvSpPr>
        <p:spPr>
          <a:xfrm>
            <a:off x="8309559" y="19822169"/>
            <a:ext cx="4883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C00000"/>
                </a:solidFill>
                <a:latin typeface="Montserrat" panose="02000505000000020004" pitchFamily="2" charset="0"/>
              </a:rPr>
              <a:t>Actual input (ANN output)</a:t>
            </a:r>
            <a:endParaRPr lang="es-ES" sz="2400" dirty="0">
              <a:solidFill>
                <a:srgbClr val="C00000"/>
              </a:solidFill>
              <a:latin typeface="Montserrat Light" panose="00000400000000000000" pitchFamily="2" charset="0"/>
            </a:endParaRPr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24ED03A7-6898-E185-7A67-FEFF86B12D9C}"/>
              </a:ext>
            </a:extLst>
          </p:cNvPr>
          <p:cNvCxnSpPr>
            <a:cxnSpLocks/>
          </p:cNvCxnSpPr>
          <p:nvPr/>
        </p:nvCxnSpPr>
        <p:spPr>
          <a:xfrm flipV="1">
            <a:off x="13159622" y="33517601"/>
            <a:ext cx="10404" cy="658475"/>
          </a:xfrm>
          <a:prstGeom prst="straightConnector1">
            <a:avLst/>
          </a:prstGeom>
          <a:ln w="76200" cmpd="thinThick">
            <a:solidFill>
              <a:schemeClr val="accent1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626D8A61-441D-F0E8-2AFB-59EF464B05A9}"/>
              </a:ext>
            </a:extLst>
          </p:cNvPr>
          <p:cNvCxnSpPr>
            <a:cxnSpLocks/>
          </p:cNvCxnSpPr>
          <p:nvPr/>
        </p:nvCxnSpPr>
        <p:spPr>
          <a:xfrm>
            <a:off x="11895979" y="34135215"/>
            <a:ext cx="1247373" cy="0"/>
          </a:xfrm>
          <a:prstGeom prst="line">
            <a:avLst/>
          </a:prstGeom>
          <a:ln w="76200" cmpd="thinThick">
            <a:solidFill>
              <a:schemeClr val="accent1"/>
            </a:solidFill>
            <a:prstDash val="soli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A9031FD-8E9F-5338-FC42-23676610781A}"/>
              </a:ext>
            </a:extLst>
          </p:cNvPr>
          <p:cNvSpPr txBox="1"/>
          <p:nvPr/>
        </p:nvSpPr>
        <p:spPr>
          <a:xfrm>
            <a:off x="300987" y="42233058"/>
            <a:ext cx="15803018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work was supported in part by GIST-IREF from Gwangju Institute of Science and Technology (GIST), was supported in part by the National Research Foundation of Korea (NRF) grant funded by the Korea government (MSIT) (RS-2025-00554087)</a:t>
            </a:r>
          </a:p>
          <a:p>
            <a:endParaRPr lang="en-KR" dirty="0"/>
          </a:p>
        </p:txBody>
      </p:sp>
    </p:spTree>
    <p:extLst>
      <p:ext uri="{BB962C8B-B14F-4D97-AF65-F5344CB8AC3E}">
        <p14:creationId xmlns:p14="http://schemas.microsoft.com/office/powerpoint/2010/main" val="379896274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456"/>
  <p:tag name="ORIGINALWIDTH" val=" 1212"/>
  <p:tag name="OUTPUTTYPE" val="PNG"/>
  <p:tag name="IGUANATEXVERSION" val="162"/>
  <p:tag name="LATEXADDIN" val="\documentclass{article}&#10;\usepackage{amsmath}&#10;&#10;\usepackage{xcolor}&#10;\definecolor{airforceblue}{rgb}{0.36, 0.54, 0.66}&#10;\definecolor{awesome}{rgb}{1.0, 0.13, 0.32}&#10;\newcommand{\ctxt}[2]{\color{#1}{#2}\color{black}}&#10;&#10;%&#9;myVector = \mv&#10;\newcommand*{\mv}[1]{\boldsymbol{#1}}&#10;%&#9;myMatrix = \mm&#10;\newcommand*{\mm}[1]{\boldsymbol{#1}}&#10;% ============================================&#10;%         NEURAL NETWORKS&#10;% ============================================&#10;\newcommand*{\NN}{\mv{\Phi}}&#10;\newcommand*{\act}{\mv{\phi}}&#10;\newcommand*{\wth}{\mv{\theta}}&#10;\newcommand*{\wV}{\mm{W}}&#10;&#10;\newcommand*{\estwth}{\widehat{\wth}}&#10;\newcommand*{\estNN}{\widehat{\NN}}&#10;\newcommand*{\estact}{\widehat{\act}}&#10;\newcommand*{\estwV}{\widehat{\wV}}&#10;&#10;\newcommand*{\idealwth}{{\wth}^*}&#10;\newcommand*{\idealNN}{{\NN}^*}&#10;\newcommand*{\idealact}{{\act}^*}&#10;\newcommand*{\idealwV}{{\wV}^*}&#10;&#10;% ============================================&#10;%         FRACTIONS&#10;% ============================================&#10;\newcommand\der{\mathrm d}&#10;% \newcommand*{\ddt}{&#10;%     \frac{\der}{\der t}&#10;% }&#10;\newcommand*{\ddtt}{&#10;    \tfrac{\der}{\der t}&#10;}&#10;\newcommand*{\ddttddtt}{&#10;    \tfrac{\der^2}{\der t^2}&#10;}&#10;\newcommand*{\ddfrac}[2]{&#10;    \frac{\der {#1}}{\der {#2}}&#10;}&#10;\newcommand*{\ddtfrac}[2]{&#10;    \tfrac{\der {#1}}{\der {#2}}&#10;}&#10;\newcommand*{\ppfrac}[2]{&#10;    \frac{\partial {#1}}{\partial {#2}}&#10;}&#10;\newcommand*{\pptfrac}[2]{&#10;    \tfrac{\partial {#1}}{\partial {#2}}&#10;}&#10;&#10;\pagestyle{empty}&#10;\begin{document}&#10;&#10;\begin{equation*}&#13;&#10;&#9;\begin{matrix}&#13;&#10;&#9;&#9;\min_{\widehat{\mv{\theta}}}&#13;&#10;J(\mv{e};\widehat{\mv{\theta}})={1\over2} \mv{e}^{\top}\mv{e} &#13;&#10;&#9;&#9;,\\ \\&#13;&#10;&#9;&#9;\text{subject to }\ (1)\text{ and }(2)&#13;&#10;&#9;\end{matrix}&#13;&#10;\end{equation*}&#10;&#10;\end{document}"/>
  <p:tag name="IGUANATEXSIZE" val="14"/>
  <p:tag name="IGUANATEXCURSOR" val="1618"/>
  <p:tag name="TRANSPARENCY" val="True"/>
  <p:tag name="CHOOSECOLOR" val="False"/>
  <p:tag name="COLORHEX" val="000000"/>
  <p:tag name="LATEXENGINEID" val="0"/>
  <p:tag name="TEMPFOLDER" val="/Users/ddi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81"/>
  <p:tag name="ORIGINALWIDTH" val=" 2258"/>
  <p:tag name="OUTPUTTYPE" val="PNG"/>
  <p:tag name="IGUANATEXVERSION" val="162"/>
  <p:tag name="LATEXADDIN" val="\documentclass{article}&#10;\usepackage{amsmath}&#10;&#10;%&#9;myVector = \mv&#10;\newcommand*{\mv}[1]{\boldsymbol{#1}}&#10;%&#9;myMatrix = \mm&#10;\newcommand*{\mm}[1]{\boldsymbol{#1}}&#10;% ============================================&#10;%         NEURAL NETWORKS&#10;% ============================================&#10;\newcommand*{\NN}{\mv{\Phi}}&#10;\newcommand*{\act}{\mv{\phi}}&#10;\newcommand*{\wth}{\mv{\theta}}&#10;\newcommand*{\wV}{\mm{W}}&#10;&#10;\newcommand*{\estwth}{\widehat{\wth}}&#10;\newcommand*{\estNN}{\widehat{\NN}}&#10;\newcommand*{\estact}{\widehat{\act}}&#10;\newcommand*{\estwV}{\widehat{\wV}}&#10;&#10;\newcommand*{\idealwth}{{\wth}^*}&#10;\newcommand*{\idealNN}{{\NN}^*}&#10;\newcommand*{\idealact}{{\act}^*}&#10;\newcommand*{\idealwV}{{\wV}^*}&#10;&#10;% ============================================&#10;%         FRACTIONS&#10;% ============================================&#10;\newcommand\der{\mathrm d}&#10;% \newcommand*{\ddt}{&#10;%     \frac{\der}{\der t}&#10;% }&#10;\newcommand*{\ddtt}{&#10;    \tfrac{\der}{\der t}&#10;}&#10;\newcommand*{\ddttddtt}{&#10;    \tfrac{\der^2}{\der t^2}&#10;}&#10;\newcommand*{\ddfrac}[2]{&#10;    \frac{\der {#1}}{\der {#2}}&#10;}&#10;\newcommand*{\ddtfrac}[2]{&#10;    \tfrac{\der {#1}}{\der {#2}}&#10;}&#10;\newcommand*{\ppfrac}[2]{&#10;    \frac{\partial {#1}}{\partial {#2}}&#10;}&#10;\newcommand*{\pptfrac}[2]{&#10;    \tfrac{\partial {#1}}{\partial {#2}}&#10;}&#10;&#10;\pagestyle{empty}&#10;\begin{document}&#10;&#10;\begin{equation*}&#13;&#10;&#9;L(\mv{e},\widehat{\mv{\theta}},[\lambda_j]_{j\in\mathcal I}) &#13;&#10;&#9;:=&#13;&#10;&#9;J(\mv{e};\widehat{\mv{\theta}}) &#13;&#10;&#9;+ &#13;&#10;&#9;\textstyle \sum_{j\in\mathcal I} \lambda_j c_j(\widehat{\mv{\theta}})&#13;&#10;&#9;\label{eq:lagrangian}&#13;&#10;\end{equation*}&#10;&#10;\end{document}"/>
  <p:tag name="IGUANATEXSIZE" val="14"/>
  <p:tag name="IGUANATEXCURSOR" val="1468"/>
  <p:tag name="TRANSPARENCY" val="True"/>
  <p:tag name="CHOOSECOLOR" val="False"/>
  <p:tag name="COLORHEX" val="000000"/>
  <p:tag name="LATEXENGINEID" val="0"/>
  <p:tag name="TEMPFOLDER" val="/Users/ddi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642"/>
  <p:tag name="ORIGINALWIDTH" val=" 2783"/>
  <p:tag name="OUTPUTTYPE" val="PNG"/>
  <p:tag name="IGUANATEXVERSION" val="162"/>
  <p:tag name="LATEXADDIN" val="\documentclass{article}&#10;\usepackage{amsmath}&#10;&#10;\newcommand*{\ddtsmall}{\tfrac{\mathrm{d}}{\mathrm{d}t}}&#10;&#10;%&#9;myVector = \mv&#10;\newcommand*{\mv}[1]{\boldsymbol{#1}}&#10;%&#9;myMatrix = \mm&#10;\newcommand*{\mm}[1]{\boldsymbol{#1}}&#10;% ============================================&#10;%         NEURAL NETWORKS&#10;% ============================================&#10;\newcommand*{\NN}{\mv{\Phi}}&#10;\newcommand*{\act}{\mv{\phi}}&#10;\newcommand*{\wth}{\mv{\theta}}&#10;\newcommand*{\wV}{\mm{W}}&#10;&#10;\newcommand*{\estwth}{\widehat{\wth}}&#10;\newcommand*{\estNN}{\widehat{\NN}}&#10;\newcommand*{\estact}{\widehat{\act}}&#10;\newcommand*{\estwV}{\widehat{\wV}}&#10;&#10;\newcommand*{\idealwth}{{\wth}^*}&#10;\newcommand*{\idealNN}{{\NN}^*}&#10;\newcommand*{\idealact}{{\act}^*}&#10;\newcommand*{\idealwV}{{\wV}^*}&#10;&#10;% ============================================&#10;%         FRACTIONS&#10;% ============================================&#10;\newcommand\der{\mathrm d}&#10;% \newcommand*{\ddt}{&#10;%     \frac{\der}{\der t}&#10;% }&#10;\newcommand*{\ddtt}{&#10;    \tfrac{\der}{\der t}&#10;}&#10;\newcommand*{\ddttddtt}{&#10;    \tfrac{\der^2}{\der t^2}&#10;}&#10;\newcommand*{\ddfrac}[2]{&#10;    \frac{\der {#1}}{\der {#2}}&#10;}&#10;\newcommand*{\ddtfrac}[2]{&#10;    \tfrac{\der {#1}}{\der {#2}}&#10;}&#10;\newcommand*{\ppfrac}[2]{&#10;    \frac{\partial {#1}}{\partial {#2}}&#10;}&#10;\newcommand*{\pptfrac}[2]{&#10;    \tfrac{\partial {#1}}{\partial {#2}}&#10;}&#10;&#10;\pagestyle{empty}&#10;\begin{document}&#10;&#10;\begin{equation*}&#13;&#10;&#9;\begin{aligned}&#13;&#10;&#9;&#9;\ddtsmall {\widehat{\mv{\theta}}}&amp;=-\alpha &#13;&#10;&#9;&#9;\tfrac{\partial L}{\partial \widehat{\mv{\theta}}}&#13;&#10;&#9;&#9;=-\alpha &#13;&#10;&#9;&#9;\left(&#13;&#10;&#9;&#9;&#9;\tfrac{\partial J}{\partial \widehat{\mv{\theta}}}&#13;&#10;&#9;&#9;&#9;+&#13;&#10;&#9;&#9;&#9;\textstyle  \sum_{j\in\mathcal{I}}&#13;&#10;&#9;&#9;&#9;\lambda_j &#13;&#10;&#9;&#9;&#9;\tfrac{\partial c_j}{\partial \widehat{\mv{\theta}}}&#13;&#10;&#9;&#9;\right)&#13;&#10;&#9;&#9;,\quad\quad\quad (3)&#13;&#10;&#9;&#9;\\&#13;&#10;&#9;&#9;\ddtsmall\lambda_j&amp; = \beta_j&#13;&#10;&#9;&#9;\tfrac{\partial L}{\partial \lambda_j} = \beta_j c_j &#13;&#10;&#9;&#9;, \quad \forall j\in\mathcal I&#13;&#10;&#9;&#9;,&#13;&#10;&#9;&#9;\\&#13;&#10;&#9;&#9;\lambda_j &amp;\leftarrow \max(\lambda_j, 0)&#13;&#10;&#9;\end{aligned}&#13;&#10;\end{equation*}&#10;&#10;\end{document}"/>
  <p:tag name="IGUANATEXSIZE" val="14"/>
  <p:tag name="IGUANATEXCURSOR" val="1690"/>
  <p:tag name="TRANSPARENCY" val="True"/>
  <p:tag name="CHOOSECOLOR" val="False"/>
  <p:tag name="COLORHEX" val="000000"/>
  <p:tag name="LATEXENGINEID" val="0"/>
  <p:tag name="TEMPFOLDER" val="/Users/ddi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95"/>
  <p:tag name="ORIGINALWIDTH" val=" 2447"/>
  <p:tag name="OUTPUTTYPE" val="PNG"/>
  <p:tag name="IGUANATEXVERSION" val="162"/>
  <p:tag name="LATEXADDIN" val="\documentclass{article}&#10;\usepackage{amsmath}&#10;&#10;%&#9;myVector = \mv&#10;\newcommand*{\mv}[1]{\boldsymbol{#1}}&#10;%&#9;myMatrix = \mm&#10;\newcommand*{\mm}[1]{\boldsymbol{#1}}&#10;% ============================================&#10;%         NEURAL NETWORKS&#10;% ============================================&#10;\newcommand*{\NN}{\mv{\Phi}}&#10;\newcommand*{\act}{\mv{\phi}}&#10;\newcommand*{\wth}{\mv{\theta}}&#10;\newcommand*{\wV}{\mm{W}}&#10;&#10;\newcommand*{\estwth}{\widehat{\wth}}&#10;\newcommand*{\estNN}{\widehat{\NN}}&#10;\newcommand*{\estact}{\widehat{\act}}&#10;\newcommand*{\estwV}{\widehat{\wV}}&#10;&#10;\newcommand*{\idealwth}{{\wth}^*}&#10;\newcommand*{\idealNN}{{\NN}^*}&#10;\newcommand*{\idealact}{{\act}^*}&#10;\newcommand*{\idealwV}{{\wV}^*}&#10;&#10;% ============================================&#10;%         FRACTIONS&#10;% ============================================&#10;\newcommand\der{\mathrm d}&#10;% \newcommand*{\ddt}{&#10;%     \frac{\der}{\der t}&#10;% }&#10;\newcommand*{\ddtt}{&#10;    \tfrac{\der}{\der t}&#10;}&#10;\newcommand*{\ddttddtt}{&#10;    \tfrac{\der^2}{\der t^2}&#10;}&#10;\newcommand*{\ddfrac}[2]{&#10;    \frac{\der {#1}}{\der {#2}}&#10;}&#10;\newcommand*{\ddtfrac}[2]{&#10;    \tfrac{\der {#1}}{\der {#2}}&#10;}&#10;\newcommand*{\ppfrac}[2]{&#10;    \frac{\partial {#1}}{\partial {#2}}&#10;}&#10;\newcommand*{\pptfrac}[2]{&#10;    \tfrac{\partial {#1}}{\partial {#2}}&#10;}&#10;&#10;\pagestyle{empty}&#10;\begin{document}&#10;&#10;\begin{equation*}&#13;&#10;&#9;&#9;&#9;c_{\theta_i}(\widehat{\mv{\theta}})= &#13;&#10;&#9;&#9;&#9;\tfrac{1}{2}&#13;&#10;&#9;&#9;&#9;(&#13;&#10;&#9;&#9;&#9;&#9;\widehat{\mv{\theta}}_i^{\top}\widehat{\mv{\theta}}_i-\bar\theta_i^2 &#13;&#10;&#9;&#9;&#9;)&#13;&#10;&#9;&#9;&#9;\le 0, \quad \forall i\in\{0,1\}&#10;\quad (1)&#13;&#10;\end{equation*}&#10;&#10;\end{document}"/>
  <p:tag name="IGUANATEXSIZE" val="14"/>
  <p:tag name="IGUANATEXCURSOR" val="1476"/>
  <p:tag name="TRANSPARENCY" val="True"/>
  <p:tag name="CHOOSECOLOR" val="False"/>
  <p:tag name="COLORHEX" val="000000"/>
  <p:tag name="LATEXENGINEID" val="0"/>
  <p:tag name="TEMPFOLDER" val="/Users/ddi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95"/>
  <p:tag name="ORIGINALWIDTH" val=" 2195"/>
  <p:tag name="OUTPUTTYPE" val="PNG"/>
  <p:tag name="IGUANATEXVERSION" val="162"/>
  <p:tag name="LATEXADDIN" val="\documentclass{article}&#10;\usepackage{amsmath}&#10;&#10;%&#9;myVector = \mv&#10;\newcommand*{\mv}[1]{\boldsymbol{#1}}&#10;%&#9;myMatrix = \mm&#10;\newcommand*{\mm}[1]{\boldsymbol{#1}}&#10;% ============================================&#10;%         NEURAL NETWORKS&#10;% ============================================&#10;\newcommand*{\NN}{\mv{\Phi}}&#10;\newcommand*{\act}{\mv{\phi}}&#10;\newcommand*{\wth}{\mv{\theta}}&#10;\newcommand*{\wV}{\mm{W}}&#10;&#10;\newcommand*{\estwth}{\widehat{\wth}}&#10;\newcommand*{\estNN}{\widehat{\NN}}&#10;\newcommand*{\estact}{\widehat{\act}}&#10;\newcommand*{\estwV}{\widehat{\wV}}&#10;&#10;\newcommand*{\idealwth}{{\wth}^*}&#10;\newcommand*{\idealNN}{{\NN}^*}&#10;\newcommand*{\idealact}{{\act}^*}&#10;\newcommand*{\idealwV}{{\wV}^*}&#10;&#10;% ============================================&#10;%         FRACTIONS&#10;% ============================================&#10;\newcommand\der{\mathrm d}&#10;% \newcommand*{\ddt}{&#10;%     \frac{\der}{\der t}&#10;% }&#10;\newcommand*{\ddtt}{&#10;    \tfrac{\der}{\der t}&#10;}&#10;\newcommand*{\ddttddtt}{&#10;    \tfrac{\der^2}{\der t^2}&#10;}&#10;\newcommand*{\ddfrac}[2]{&#10;    \frac{\der {#1}}{\der {#2}}&#10;}&#10;\newcommand*{\ddtfrac}[2]{&#10;    \tfrac{\der {#1}}{\der {#2}}&#10;}&#10;\newcommand*{\ppfrac}[2]{&#10;    \frac{\partial {#1}}{\partial {#2}}&#10;}&#10;\newcommand*{\pptfrac}[2]{&#10;    \tfrac{\partial {#1}}{\partial {#2}}&#10;}&#10;&#10;\pagestyle{empty}&#10;\begin{document}&#10;&#10;\begin{equation*}&#13;&#10;&#9;&#9;&#9;c_u(\widehat{\mv{\theta}}) &#13;&#10;&#9;&#9;&#9;=&#13;&#10;&#9;&#9;&#9;\tfrac{1}{2}&#13;&#10;&#9;&#9;&#9;(&#13;&#10;&#9;&#9;&#9;&#9;\widehat{\mv{\Phi}}^{\top}\widehat{\mv{\Phi}}  - \bar{u}^2  &#13;&#10;&#9;&#9;&#9;)&#13;&#10;&#9;&#9;&#9;\le 0&#10;\quad\quad\quad\quad\quad(2)&#13;&#10;\end{equation*}&#10;&#10;\end{document}"/>
  <p:tag name="IGUANATEXSIZE" val="14"/>
  <p:tag name="IGUANATEXCURSOR" val="0"/>
  <p:tag name="TRANSPARENCY" val="True"/>
  <p:tag name="CHOOSECOLOR" val="False"/>
  <p:tag name="COLORHEX" val="000000"/>
  <p:tag name="LATEXENGINEID" val="0"/>
  <p:tag name="TEMPFOLDER" val="/Users/ddi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61"/>
  <p:tag name="ORIGINALWIDTH" val=" 1521"/>
  <p:tag name="OUTPUTTYPE" val="PNG"/>
  <p:tag name="IGUANATEXVERSION" val="162"/>
  <p:tag name="LATEXADDIN" val="\documentclass{article}&#10;\usepackage{amsmath}&#10;&#10;%&#9;myVector = \mv&#10;\newcommand*{\mv}[1]{\boldsymbol{#1}}&#10;%&#9;myMatrix = \mm&#10;\newcommand*{\mm}[1]{\boldsymbol{#1}}&#10;% ============================================&#10;%         NEURAL NETWORKS&#10;% ============================================&#10;\newcommand*{\NN}{\mv{\Phi}}&#10;\newcommand*{\act}{\mv{\phi}}&#10;\newcommand*{\wth}{\mv{\theta}}&#10;\newcommand*{\wV}{\mm{W}}&#10;&#10;\newcommand*{\estwth}{\widehat{\wth}}&#10;\newcommand*{\estNN}{\widehat{\NN}}&#10;\newcommand*{\estact}{\widehat{\act}}&#10;\newcommand*{\estwV}{\widehat{\wV}}&#10;&#10;\newcommand*{\idealwth}{{\wth}^*}&#10;\newcommand*{\idealNN}{{\NN}^*}&#10;\newcommand*{\idealact}{{\act}^*}&#10;\newcommand*{\idealwV}{{\wV}^*}&#10;&#10;% ============================================&#10;%         FRACTIONS&#10;% ============================================&#10;\newcommand\der{\mathrm d}&#10;% \newcommand*{\ddt}{&#10;%     \frac{\der}{\der t}&#10;% }&#10;\newcommand*{\ddtt}{&#10;    \tfrac{\der}{\der t}&#10;}&#10;\newcommand*{\ddttddtt}{&#10;    \tfrac{\der^2}{\der t^2}&#10;}&#10;\newcommand*{\ddfrac}[2]{&#10;    \frac{\der {#1}}{\der {#2}}&#10;}&#10;\newcommand*{\ddtfrac}[2]{&#10;    \tfrac{\der {#1}}{\der {#2}}&#10;}&#10;\newcommand*{\ppfrac}[2]{&#10;    \frac{\partial {#1}}{\partial {#2}}&#10;}&#10;\newcommand*{\pptfrac}[2]{&#10;    \tfrac{\partial {#1}}{\partial {#2}}&#10;}&#10;&#10;\pagestyle{empty}&#10;\begin{document}&#10;&#10;$\lambda_j$: Lagrange multipliers&#10;\\&#10;$\mathcal{I}$: Inequality constraint set&#10;&#10;\end{document}"/>
  <p:tag name="IGUANATEXSIZE" val="14"/>
  <p:tag name="IGUANATEXCURSOR" val="1347"/>
  <p:tag name="TRANSPARENCY" val="True"/>
  <p:tag name="CHOOSECOLOR" val="False"/>
  <p:tag name="COLORHEX" val="000000"/>
  <p:tag name="LATEXENGINEID" val="0"/>
  <p:tag name="TEMPFOLDER" val="/Users/ddi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37"/>
  <p:tag name="ORIGINALWIDTH" val=" 1365"/>
  <p:tag name="OUTPUTTYPE" val="PNG"/>
  <p:tag name="IGUANATEXVERSION" val="162"/>
  <p:tag name="LATEXADDIN" val="\documentclass{article}&#10;\usepackage{amsmath}&#10;&#10;\newcommand*{\ddtsmall}{\tfrac{\mathrm{d}}{\mathrm{d}t}}&#10;&#10;%&#9;myVector = \mv&#10;\newcommand*{\mv}[1]{\boldsymbol{#1}}&#10;%&#9;myMatrix = \mm&#10;\newcommand*{\mm}[1]{\boldsymbol{#1}}&#10;% ============================================&#10;%         NEURAL NETWORKS&#10;% ============================================&#10;\newcommand*{\NN}{\mv{\Phi}}&#10;\newcommand*{\act}{\mv{\phi}}&#10;\newcommand*{\wth}{\mv{\theta}}&#10;\newcommand*{\wV}{\mm{W}}&#10;&#10;\newcommand*{\estwth}{\widehat{\wth}}&#10;\newcommand*{\estNN}{\widehat{\NN}}&#10;\newcommand*{\estact}{\widehat{\act}}&#10;\newcommand*{\estwV}{\widehat{\wV}}&#10;&#10;\newcommand*{\idealwth}{{\wth}^*}&#10;\newcommand*{\idealNN}{{\NN}^*}&#10;\newcommand*{\idealact}{{\act}^*}&#10;\newcommand*{\idealwV}{{\wV}^*}&#10;&#10;% ============================================&#10;%         FRACTIONS&#10;% ============================================&#10;\newcommand\der{\mathrm d}&#10;% \newcommand*{\ddt}{&#10;%     \frac{\der}{\der t}&#10;% }&#10;\newcommand*{\ddtt}{&#10;    \tfrac{\der}{\der t}&#10;}&#10;\newcommand*{\ddttddtt}{&#10;    \tfrac{\der^2}{\der t^2}&#10;}&#10;\newcommand*{\ddfrac}[2]{&#10;    \frac{\der {#1}}{\der {#2}}&#10;}&#10;\newcommand*{\ddtfrac}[2]{&#10;    \tfrac{\der {#1}}{\der {#2}}&#10;}&#10;\newcommand*{\ppfrac}[2]{&#10;    \frac{\partial {#1}}{\partial {#2}}&#10;}&#10;\newcommand*{\pptfrac}[2]{&#10;    \tfrac{\partial {#1}}{\partial {#2}}&#10;}&#10;&#10;\pagestyle{empty}&#10;\begin{document}&#10;&#10;\begin{equation*}&#13;&#10;&#9;\min_{\widehat{\mv{\theta}}} \max_{[\lambda_j]_{j\in\mathcal I}} \allowbreak  L(\mv{e},\widehat{\mv{\theta}},[\lambda_j]_{j\in\mathcal I})&#13;&#10;\end{equation*}&#10;&#10;\end{document}"/>
  <p:tag name="IGUANATEXSIZE" val="14"/>
  <p:tag name="IGUANATEXCURSOR" val="1486"/>
  <p:tag name="TRANSPARENCY" val="True"/>
  <p:tag name="CHOOSECOLOR" val="False"/>
  <p:tag name="COLORHEX" val="000000"/>
  <p:tag name="LATEXENGINEID" val="0"/>
  <p:tag name="TEMPFOLDER" val="/Users/ddi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69"/>
  <p:tag name="ORIGINALWIDTH" val=" 1933"/>
  <p:tag name="OUTPUTTYPE" val="PNG"/>
  <p:tag name="IGUANATEXVERSION" val="162"/>
  <p:tag name="LATEXADDIN" val="\documentclass{article}&#10;\usepackage{amsmath}&#10;&#10;\newcommand*{\ddtsmall}{\tfrac{\mathrm{d}}{\mathrm{d}t}}&#10;\newcommand*{\norm}[1]{\lVert #1 \rVert}&#10;&#10;%&#9;myVector = \mv&#10;\newcommand*{\mv}[1]{\boldsymbol{#1}}&#10;%&#9;myMatrix = \mm&#10;\newcommand*{\mm}[1]{\boldsymbol{#1}}&#10;% ============================================&#10;%         NEURAL NETWORKS&#10;% ============================================&#10;\newcommand*{\NN}{\mv{\Phi}}&#10;\newcommand*{\act}{\mv{\phi}}&#10;\newcommand*{\wth}{\mv{\theta}}&#10;\newcommand*{\wV}{\mm{W}}&#10;&#10;\newcommand*{\estwth}{\widehat{\wth}}&#10;\newcommand*{\estNN}{\widehat{\NN}}&#10;\newcommand*{\estact}{\widehat{\act}}&#10;\newcommand*{\estwV}{\widehat{\wV}}&#10;&#10;\newcommand*{\idealwth}{{\wth}^*}&#10;\newcommand*{\idealNN}{{\NN}^*}&#10;\newcommand*{\idealact}{{\act}^*}&#10;\newcommand*{\idealwV}{{\wV}^*}&#10;&#10;% ============================================&#10;%         FRACTIONS&#10;% ============================================&#10;\newcommand\der{\mathrm d}&#10;% \newcommand*{\ddt}{&#10;%     \frac{\der}{\der t}&#10;% }&#10;\newcommand*{\ddtt}{&#10;    \tfrac{\der}{\der t}&#10;}&#10;\newcommand*{\ddttddtt}{&#10;    \tfrac{\der^2}{\der t^2}&#10;}&#10;\newcommand*{\ddfrac}[2]{&#10;    \frac{\der {#1}}{\der {#2}}&#10;}&#10;\newcommand*{\ddtfrac}[2]{&#10;    \tfrac{\der {#1}}{\der {#2}}&#10;}&#10;\newcommand*{\ppfrac}[2]{&#10;    \frac{\partial {#1}}{\partial {#2}}&#10;}&#10;\newcommand*{\pptfrac}[2]{&#10;    \tfrac{\partial {#1}}{\partial {#2}}&#10;}&#10;&#10;\pagestyle{empty}&#10;\begin{document}&#10;&#10;\begin{equation*}&#13;&#10;\norm{\mv{e}} \le \tfrac{\bar{u}}{k}&#10;,\ \text{and }&#10;\norm{\estwth_i}\le \bar{\theta}_i,\ \forall i \in\{0,1\}&#13;&#10;\end{equation*}&#10;&#10;\end{document}"/>
  <p:tag name="IGUANATEXSIZE" val="14"/>
  <p:tag name="IGUANATEXCURSOR" val="1491"/>
  <p:tag name="TRANSPARENCY" val="True"/>
  <p:tag name="CHOOSECOLOR" val="False"/>
  <p:tag name="COLORHEX" val="000000"/>
  <p:tag name="LATEXENGINEID" val="0"/>
  <p:tag name="TEMPFOLDER" val="/Users/ddi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80"/>
  <p:tag name="ORIGINALWIDTH" val=" 2575"/>
  <p:tag name="OUTPUTTYPE" val="PNG"/>
  <p:tag name="IGUANATEXVERSION" val="162"/>
  <p:tag name="LATEXADDIN" val="\documentclass{article}&#10;\usepackage{amsmath}&#10;&#10;%&#9;myVector = \mv&#10;\newcommand*{\mv}[1]{\boldsymbol{#1}}&#10;%&#9;myMatrix = \mm&#10;\newcommand*{\mm}[1]{\boldsymbol{#1}}&#10;% ============================================&#10;%         NEURAL NETWORKS&#10;% ============================================&#10;\newcommand*{\NN}{\mv{\Phi}}&#10;\newcommand*{\act}{\mv{\phi}}&#10;\newcommand*{\wth}{\mv{\theta}}&#10;\newcommand*{\wV}{\mm{W}}&#10;&#10;\newcommand*{\estwth}{\widehat{\wth}}&#10;\newcommand*{\estNN}{\widehat{\NN}}&#10;\newcommand*{\estact}{\widehat{\act}}&#10;\newcommand*{\estwV}{\widehat{\wV}}&#10;&#10;\newcommand*{\idealwth}{{\wth}^*}&#10;\newcommand*{\idealNN}{{\NN}^*}&#10;\newcommand*{\idealact}{{\act}^*}&#10;\newcommand*{\idealwV}{{\wV}^*}&#10;&#10;% ============================================&#10;%         FRACTIONS&#10;% ============================================&#10;\newcommand\der{\mathrm d}&#10;% \newcommand*{\ddt}{&#10;%     \frac{\der}{\der t}&#10;% }&#10;\newcommand*{\ddtt}{&#10;    \tfrac{\der}{\der t}&#10;}&#10;\newcommand*{\ddttddtt}{&#10;    \tfrac{\der^2}{\der t^2}&#10;}&#10;\newcommand*{\ddfrac}[2]{&#10;    \frac{\der {#1}}{\der {#2}}&#10;}&#10;\newcommand*{\ddtfrac}[2]{&#10;    \tfrac{\der {#1}}{\der {#2}}&#10;}&#10;\newcommand*{\ppfrac}[2]{&#10;    \frac{\partial {#1}}{\partial {#2}}&#10;}&#10;\newcommand*{\pptfrac}[2]{&#10;    \tfrac{\partial {#1}}{\partial {#2}}&#10;}&#10;&#10;\pagestyle{empty}&#10;\begin{document}&#10;&#10;\begin{equation*}&#10;\mv{u}^* = \NN(\mv{x}_n;\mv{\theta}^*)+\mv{\epsilon},&#10;\text{ and }&#13;&#10;\mv{u}_{\rm{s,ref}}^{dq}&#10;=&#10;\estNN=\NN(\mv{x}_n;\estwth)&#10;\end{equation*}&#10;&#10;\end{document}"/>
  <p:tag name="IGUANATEXSIZE" val="14"/>
  <p:tag name="IGUANATEXCURSOR" val="1354"/>
  <p:tag name="TRANSPARENCY" val="True"/>
  <p:tag name="CHOOSECOLOR" val="False"/>
  <p:tag name="COLORHEX" val="000000"/>
  <p:tag name="LATEXENGINEID" val="0"/>
  <p:tag name="TEMPFOLDER" val="/Users/ddi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69"/>
  <p:tag name="ORIGINALWIDTH" val=" 1521"/>
  <p:tag name="OUTPUTTYPE" val="PNG"/>
  <p:tag name="IGUANATEXVERSION" val="162"/>
  <p:tag name="LATEXADDIN" val="\documentclass{article}&#10;\usepackage{amsmath}&#10;&#10;\newcommand*{\ddtsmall}{\tfrac{\mathrm{d}}{\mathrm{d}t}}&#10;&#10;%&#9;myVector = \mv&#10;\newcommand*{\mv}[1]{\boldsymbol{#1}}&#10;%&#9;myMatrix = \mm&#10;\newcommand*{\mm}[1]{\boldsymbol{#1}}&#10;% ============================================&#10;%         NEURAL NETWORKS&#10;% ============================================&#10;\newcommand*{\NN}{\mv{\Phi}}&#10;\newcommand*{\act}{\mv{\phi}}&#10;\newcommand*{\wth}{\mv{\theta}}&#10;\newcommand*{\wV}{\mm{W}}&#10;&#10;\newcommand*{\estwth}{\widehat{\wth}}&#10;\newcommand*{\estNN}{\widehat{\NN}}&#10;\newcommand*{\estact}{\widehat{\act}}&#10;\newcommand*{\estwV}{\widehat{\wV}}&#10;&#10;\newcommand*{\idealwth}{{\wth}^*}&#10;\newcommand*{\idealNN}{{\NN}^*}&#10;\newcommand*{\idealact}{{\act}^*}&#10;\newcommand*{\idealwV}{{\wV}^*}&#10;&#10;% ============================================&#10;%         FRACTIONS&#10;% ============================================&#10;\newcommand\der{\mathrm d}&#10;% \newcommand*{\ddt}{&#10;%     \frac{\der}{\der t}&#10;% }&#10;\newcommand*{\ddtt}{&#10;    \tfrac{\der}{\der t}&#10;}&#10;\newcommand*{\ddttddtt}{&#10;    \tfrac{\der^2}{\der t^2}&#10;}&#10;\newcommand*{\ddfrac}[2]{&#10;    \frac{\der {#1}}{\der {#2}}&#10;}&#10;\newcommand*{\ddtfrac}[2]{&#10;    \tfrac{\der {#1}}{\der {#2}}&#10;}&#10;\newcommand*{\ppfrac}[2]{&#10;    \frac{\partial {#1}}{\partial {#2}}&#10;}&#10;\newcommand*{\pptfrac}[2]{&#10;    \tfrac{\partial {#1}}{\partial {#2}}&#10;}&#10;&#10;\pagestyle{empty}&#10;\begin{document}&#10;&#10;\begin{equation*}&#13;&#10;\ddtt{\estwth}=?&#10;,\text{ which leads }&#10;{\estwth\to\idealwth}&#13;&#10;\end{equation*}&#10;&#10;\end{document}"/>
  <p:tag name="IGUANATEXSIZE" val="14"/>
  <p:tag name="IGUANATEXCURSOR" val="1383"/>
  <p:tag name="TRANSPARENCY" val="True"/>
  <p:tag name="CHOOSECOLOR" val="False"/>
  <p:tag name="COLORHEX" val="000000"/>
  <p:tag name="LATEXENGINEID" val="0"/>
  <p:tag name="TEMPFOLDER" val="/Users/ddi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75"/>
  <p:tag name="ORIGINALWIDTH" val=" 2161"/>
  <p:tag name="OUTPUTTYPE" val="PNG"/>
  <p:tag name="IGUANATEXVERSION" val="162"/>
  <p:tag name="LATEXADDIN" val="\documentclass{article}&#10;\usepackage{amsmath}&#10;&#10;%&#9;myVector = \mv&#10;\newcommand*{\mv}[1]{\boldsymbol{#1}}&#10;%&#9;myMatrix = \mm&#10;\newcommand*{\mm}[1]{\boldsymbol{#1}}&#10;% ============================================&#10;%         NEURAL NETWORKS&#10;% ============================================&#10;\newcommand*{\NN}{\mv{\Phi}}&#10;\newcommand*{\act}{\mv{\phi}}&#10;\newcommand*{\wth}{\mv{\theta}}&#10;\newcommand*{\wV}{\mm{W}}&#10;&#10;\newcommand*{\estwth}{\widehat{\wth}}&#10;\newcommand*{\estNN}{\widehat{\NN}}&#10;\newcommand*{\estact}{\widehat{\act}}&#10;\newcommand*{\estwV}{\widehat{\wV}}&#10;&#10;\newcommand*{\idealwth}{{\wth}^*}&#10;\newcommand*{\idealNN}{{\NN}^*}&#10;\newcommand*{\idealact}{{\act}^*}&#10;\newcommand*{\idealwV}{{\wV}^*}&#10;&#10;% ============================================&#10;%         FRACTIONS&#10;% ============================================&#10;\newcommand\der{\mathrm d}&#10;% \newcommand*{\ddt}{&#10;%     \frac{\der}{\der t}&#10;% }&#10;\newcommand*{\ddtt}{&#10;    \tfrac{\der}{\der t}&#10;}&#10;\newcommand*{\ddttddtt}{&#10;    \tfrac{\der^2}{\der t^2}&#10;}&#10;\newcommand*{\ddfrac}[2]{&#10;    \frac{\der {#1}}{\der {#2}}&#10;}&#10;\newcommand*{\ddtfrac}[2]{&#10;    \tfrac{\der {#1}}{\der {#2}}&#10;}&#10;\newcommand*{\ppfrac}[2]{&#10;    \frac{\partial {#1}}{\partial {#2}}&#10;}&#10;\newcommand*{\pptfrac}[2]{&#10;    \tfrac{\partial {#1}}{\partial {#2}}&#10;}&#10;&#10;\pagestyle{empty}&#10;\begin{document}&#10;&#10;\begin{equation*}&#13;&#10;\rm{sat}(\mv{u}_{\rm{s,ref}}^{dq})&#10;=&#10;\mm{R}_{\text{s}}^{dq}&#10;\mm{i}_{\text{s}}^{dq}&#10;+&#10;\omega_{\text{p}}&#10;\mm{J}&#10;\mv{\psi}_{\text{s}}^{dq}&#10;+&#10;\ddtt&#10;\mv{\psi}_{\text{s}}^{dq}&#10;\end{equation*}&#10;&#10;\end{document}"/>
  <p:tag name="IGUANATEXSIZE" val="14"/>
  <p:tag name="IGUANATEXCURSOR" val="1449"/>
  <p:tag name="TRANSPARENCY" val="True"/>
  <p:tag name="CHOOSECOLOR" val="False"/>
  <p:tag name="COLORHEX" val="000000"/>
  <p:tag name="LATEXENGINEID" val="0"/>
  <p:tag name="TEMPFOLDER" val="/Users/ddi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396"/>
  <p:tag name="ORIGINALWIDTH" val=" 2360"/>
  <p:tag name="OUTPUTTYPE" val="PNG"/>
  <p:tag name="IGUANATEXVERSION" val="162"/>
  <p:tag name="LATEXADDIN" val="\documentclass{article}&#10;\usepackage{amsmath}&#10;&#10;%&#9;myVector = \mv&#10;\newcommand*{\mv}[1]{\boldsymbol{#1}}&#10;%&#9;myMatrix = \mm&#10;\newcommand*{\mm}[1]{\boldsymbol{#1}}&#10;% ============================================&#10;%         NEURAL NETWORKS&#10;% ============================================&#10;\newcommand*{\NN}{\mv{\Phi}}&#10;\newcommand*{\act}{\mv{\phi}}&#10;\newcommand*{\wth}{\mv{\theta}}&#10;\newcommand*{\wV}{\mm{W}}&#10;&#10;\newcommand*{\estwth}{\widehat{\wth}}&#10;\newcommand*{\estNN}{\widehat{\NN}}&#10;\newcommand*{\estact}{\widehat{\act}}&#10;\newcommand*{\estwV}{\widehat{\wV}}&#10;&#10;\newcommand*{\idealwth}{{\wth}^*}&#10;\newcommand*{\idealNN}{{\NN}^*}&#10;\newcommand*{\idealact}{{\act}^*}&#10;\newcommand*{\idealwV}{{\wV}^*}&#10;&#10;% ============================================&#10;%         FRACTIONS&#10;% ============================================&#10;\newcommand\der{\mathrm d}&#10;% \newcommand*{\ddt}{&#10;%     \frac{\der}{\der t}&#10;% }&#10;\newcommand*{\ddtt}{&#10;    \tfrac{\der}{\der t}&#10;}&#10;\newcommand*{\ddttddtt}{&#10;    \tfrac{\der^2}{\der t^2}&#10;}&#10;\newcommand*{\ddfrac}[2]{&#10;    \frac{\der {#1}}{\der {#2}}&#10;}&#10;\newcommand*{\ddtfrac}[2]{&#10;    \tfrac{\der {#1}}{\der {#2}}&#10;}&#10;\newcommand*{\ppfrac}[2]{&#10;    \frac{\partial {#1}}{\partial {#2}}&#10;}&#10;\newcommand*{\pptfrac}[2]{&#10;    \tfrac{\partial {#1}}{\partial {#2}}&#10;}&#10;&#10;\pagestyle{empty}&#10;\begin{document}&#10;&#10;\begin{itemize}&#10;\item $\estwth_i$: estimated weight of $i$th layer&#10;\item $\idealwth_i$: ideal weight of $i$th layer&#10;\item $x_n$: artifical neural network (ANN) input&#10;\item $\NN(x_n;\mv{\theta})$: ANN function&#10;\item $\alpha$: learning rate of weights&#10;\item $\beta$: update rate of Lagrange multipliers&#10;\end{itemize}&#10;&#10;\end{document}"/>
  <p:tag name="IGUANATEXSIZE" val="32"/>
  <p:tag name="IGUANATEXCURSOR" val="1435"/>
  <p:tag name="TRANSPARENCY" val="True"/>
  <p:tag name="CHOOSECOLOR" val="False"/>
  <p:tag name="COLORHEX" val="000000"/>
  <p:tag name="LATEXENGINEID" val="0"/>
  <p:tag name="TEMPFOLDER" val="/Users/dding/Library/Containers/com.microsoft.Powerpoint/Data/tmp/TemporaryItems/"/>
  <p:tag name="LATEXFORMHEIGHT" val=" 426.65"/>
  <p:tag name="LATEXFORMWIDTH" val=" 513.35"/>
  <p:tag name="LATEXFORMWRAP" val="True"/>
  <p:tag name="BITMAPVECTOR" val="0"/>
</p:tagLst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591</TotalTime>
  <Words>461</Words>
  <Application>Microsoft Macintosh PowerPoint</Application>
  <PresentationFormat>Custom</PresentationFormat>
  <Paragraphs>68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Cambria Math</vt:lpstr>
      <vt:lpstr>Montserrat</vt:lpstr>
      <vt:lpstr>Montserrat Light</vt:lpstr>
      <vt:lpstr>Times New Roman</vt:lpstr>
      <vt:lpstr>Tema de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Almudena Garcia</dc:creator>
  <cp:lastModifiedBy>DDing</cp:lastModifiedBy>
  <cp:revision>163</cp:revision>
  <dcterms:created xsi:type="dcterms:W3CDTF">2025-09-15T08:13:35Z</dcterms:created>
  <dcterms:modified xsi:type="dcterms:W3CDTF">2025-10-10T08:46:02Z</dcterms:modified>
</cp:coreProperties>
</file>